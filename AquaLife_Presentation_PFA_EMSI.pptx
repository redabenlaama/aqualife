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9" d="100"/>
          <a:sy n="119" d="100"/>
        </p:scale>
        <p:origin x="198"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laama reda" userId="bcc5b9c53340994b" providerId="LiveId" clId="{ECD3E68B-E6B8-4D89-9BA3-15C7879135AF}"/>
    <pc:docChg chg="undo custSel modSld">
      <pc:chgData name="benlaama reda" userId="bcc5b9c53340994b" providerId="LiveId" clId="{ECD3E68B-E6B8-4D89-9BA3-15C7879135AF}" dt="2026-05-06T17:22:21.929" v="84" actId="14100"/>
      <pc:docMkLst>
        <pc:docMk/>
      </pc:docMkLst>
      <pc:sldChg chg="addSp modSp mod">
        <pc:chgData name="benlaama reda" userId="bcc5b9c53340994b" providerId="LiveId" clId="{ECD3E68B-E6B8-4D89-9BA3-15C7879135AF}" dt="2026-05-06T17:15:20.542" v="1" actId="1076"/>
        <pc:sldMkLst>
          <pc:docMk/>
          <pc:sldMk cId="0" sldId="256"/>
        </pc:sldMkLst>
        <pc:picChg chg="add mod">
          <ac:chgData name="benlaama reda" userId="bcc5b9c53340994b" providerId="LiveId" clId="{ECD3E68B-E6B8-4D89-9BA3-15C7879135AF}" dt="2026-05-06T17:15:20.542" v="1" actId="1076"/>
          <ac:picMkLst>
            <pc:docMk/>
            <pc:sldMk cId="0" sldId="256"/>
            <ac:picMk id="15" creationId="{042E04B4-552E-D1BF-8609-A0E89489F5B3}"/>
          </ac:picMkLst>
        </pc:picChg>
      </pc:sldChg>
      <pc:sldChg chg="modSp mod">
        <pc:chgData name="benlaama reda" userId="bcc5b9c53340994b" providerId="LiveId" clId="{ECD3E68B-E6B8-4D89-9BA3-15C7879135AF}" dt="2026-05-06T17:22:21.929" v="84" actId="14100"/>
        <pc:sldMkLst>
          <pc:docMk/>
          <pc:sldMk cId="0" sldId="262"/>
        </pc:sldMkLst>
        <pc:spChg chg="mod">
          <ac:chgData name="benlaama reda" userId="bcc5b9c53340994b" providerId="LiveId" clId="{ECD3E68B-E6B8-4D89-9BA3-15C7879135AF}" dt="2026-05-06T17:22:08.388" v="82" actId="1076"/>
          <ac:spMkLst>
            <pc:docMk/>
            <pc:sldMk cId="0" sldId="262"/>
            <ac:spMk id="24" creationId="{00000000-0000-0000-0000-000000000000}"/>
          </ac:spMkLst>
        </pc:spChg>
        <pc:spChg chg="mod">
          <ac:chgData name="benlaama reda" userId="bcc5b9c53340994b" providerId="LiveId" clId="{ECD3E68B-E6B8-4D89-9BA3-15C7879135AF}" dt="2026-05-06T17:22:04.490" v="81" actId="1076"/>
          <ac:spMkLst>
            <pc:docMk/>
            <pc:sldMk cId="0" sldId="262"/>
            <ac:spMk id="25" creationId="{00000000-0000-0000-0000-000000000000}"/>
          </ac:spMkLst>
        </pc:spChg>
        <pc:spChg chg="mod">
          <ac:chgData name="benlaama reda" userId="bcc5b9c53340994b" providerId="LiveId" clId="{ECD3E68B-E6B8-4D89-9BA3-15C7879135AF}" dt="2026-05-06T17:21:34.732" v="79" actId="1076"/>
          <ac:spMkLst>
            <pc:docMk/>
            <pc:sldMk cId="0" sldId="262"/>
            <ac:spMk id="26" creationId="{00000000-0000-0000-0000-000000000000}"/>
          </ac:spMkLst>
        </pc:spChg>
        <pc:spChg chg="mod">
          <ac:chgData name="benlaama reda" userId="bcc5b9c53340994b" providerId="LiveId" clId="{ECD3E68B-E6B8-4D89-9BA3-15C7879135AF}" dt="2026-05-06T17:21:40.802" v="80" actId="1076"/>
          <ac:spMkLst>
            <pc:docMk/>
            <pc:sldMk cId="0" sldId="262"/>
            <ac:spMk id="27" creationId="{00000000-0000-0000-0000-000000000000}"/>
          </ac:spMkLst>
        </pc:spChg>
        <pc:spChg chg="mod">
          <ac:chgData name="benlaama reda" userId="bcc5b9c53340994b" providerId="LiveId" clId="{ECD3E68B-E6B8-4D89-9BA3-15C7879135AF}" dt="2026-05-06T17:22:13.943" v="83" actId="1076"/>
          <ac:spMkLst>
            <pc:docMk/>
            <pc:sldMk cId="0" sldId="262"/>
            <ac:spMk id="28" creationId="{00000000-0000-0000-0000-000000000000}"/>
          </ac:spMkLst>
        </pc:spChg>
        <pc:spChg chg="mod">
          <ac:chgData name="benlaama reda" userId="bcc5b9c53340994b" providerId="LiveId" clId="{ECD3E68B-E6B8-4D89-9BA3-15C7879135AF}" dt="2026-05-06T17:22:21.929" v="84" actId="14100"/>
          <ac:spMkLst>
            <pc:docMk/>
            <pc:sldMk cId="0" sldId="262"/>
            <ac:spMk id="29" creationId="{00000000-0000-0000-0000-000000000000}"/>
          </ac:spMkLst>
        </pc:spChg>
      </pc:sldChg>
      <pc:sldChg chg="addSp delSp modSp mod">
        <pc:chgData name="benlaama reda" userId="bcc5b9c53340994b" providerId="LiveId" clId="{ECD3E68B-E6B8-4D89-9BA3-15C7879135AF}" dt="2026-05-06T17:20:32.064" v="70" actId="1076"/>
        <pc:sldMkLst>
          <pc:docMk/>
          <pc:sldMk cId="0" sldId="265"/>
        </pc:sldMkLst>
        <pc:spChg chg="mod">
          <ac:chgData name="benlaama reda" userId="bcc5b9c53340994b" providerId="LiveId" clId="{ECD3E68B-E6B8-4D89-9BA3-15C7879135AF}" dt="2026-05-06T17:19:32.529" v="60" actId="1076"/>
          <ac:spMkLst>
            <pc:docMk/>
            <pc:sldMk cId="0" sldId="265"/>
            <ac:spMk id="23" creationId="{00000000-0000-0000-0000-000000000000}"/>
          </ac:spMkLst>
        </pc:spChg>
        <pc:spChg chg="del mod">
          <ac:chgData name="benlaama reda" userId="bcc5b9c53340994b" providerId="LiveId" clId="{ECD3E68B-E6B8-4D89-9BA3-15C7879135AF}" dt="2026-05-06T17:18:26.292" v="52"/>
          <ac:spMkLst>
            <pc:docMk/>
            <pc:sldMk cId="0" sldId="265"/>
            <ac:spMk id="24" creationId="{00000000-0000-0000-0000-000000000000}"/>
          </ac:spMkLst>
        </pc:spChg>
        <pc:spChg chg="del">
          <ac:chgData name="benlaama reda" userId="bcc5b9c53340994b" providerId="LiveId" clId="{ECD3E68B-E6B8-4D89-9BA3-15C7879135AF}" dt="2026-05-06T17:20:05.407" v="61" actId="478"/>
          <ac:spMkLst>
            <pc:docMk/>
            <pc:sldMk cId="0" sldId="265"/>
            <ac:spMk id="28" creationId="{00000000-0000-0000-0000-000000000000}"/>
          </ac:spMkLst>
        </pc:spChg>
        <pc:picChg chg="add del">
          <ac:chgData name="benlaama reda" userId="bcc5b9c53340994b" providerId="LiveId" clId="{ECD3E68B-E6B8-4D89-9BA3-15C7879135AF}" dt="2026-05-06T17:17:35.167" v="3" actId="22"/>
          <ac:picMkLst>
            <pc:docMk/>
            <pc:sldMk cId="0" sldId="265"/>
            <ac:picMk id="37" creationId="{3D25E259-E7E4-B2F1-24B7-2652D0764EE7}"/>
          </ac:picMkLst>
        </pc:picChg>
        <pc:picChg chg="add mod">
          <ac:chgData name="benlaama reda" userId="bcc5b9c53340994b" providerId="LiveId" clId="{ECD3E68B-E6B8-4D89-9BA3-15C7879135AF}" dt="2026-05-06T17:19:23.228" v="58" actId="1076"/>
          <ac:picMkLst>
            <pc:docMk/>
            <pc:sldMk cId="0" sldId="265"/>
            <ac:picMk id="39" creationId="{45DC2771-708E-4CA5-6357-7E4E73C46D56}"/>
          </ac:picMkLst>
        </pc:picChg>
        <pc:picChg chg="add mod">
          <ac:chgData name="benlaama reda" userId="bcc5b9c53340994b" providerId="LiveId" clId="{ECD3E68B-E6B8-4D89-9BA3-15C7879135AF}" dt="2026-05-06T17:19:15.088" v="57" actId="1076"/>
          <ac:picMkLst>
            <pc:docMk/>
            <pc:sldMk cId="0" sldId="265"/>
            <ac:picMk id="41" creationId="{2DC06DE7-69E1-09CD-5E4E-2CEEBFDB626A}"/>
          </ac:picMkLst>
        </pc:picChg>
        <pc:picChg chg="add mod">
          <ac:chgData name="benlaama reda" userId="bcc5b9c53340994b" providerId="LiveId" clId="{ECD3E68B-E6B8-4D89-9BA3-15C7879135AF}" dt="2026-05-06T17:20:32.064" v="70" actId="1076"/>
          <ac:picMkLst>
            <pc:docMk/>
            <pc:sldMk cId="0" sldId="265"/>
            <ac:picMk id="43" creationId="{5FA66B37-EF5C-1EE9-8200-A953D8AB552D}"/>
          </ac:picMkLst>
        </pc:picChg>
      </pc:sldChg>
      <pc:sldChg chg="modSp mod">
        <pc:chgData name="benlaama reda" userId="bcc5b9c53340994b" providerId="LiveId" clId="{ECD3E68B-E6B8-4D89-9BA3-15C7879135AF}" dt="2026-05-06T17:21:01.023" v="73" actId="1076"/>
        <pc:sldMkLst>
          <pc:docMk/>
          <pc:sldMk cId="0" sldId="266"/>
        </pc:sldMkLst>
        <pc:spChg chg="mod">
          <ac:chgData name="benlaama reda" userId="bcc5b9c53340994b" providerId="LiveId" clId="{ECD3E68B-E6B8-4D89-9BA3-15C7879135AF}" dt="2026-05-06T17:20:52.285" v="72" actId="1076"/>
          <ac:spMkLst>
            <pc:docMk/>
            <pc:sldMk cId="0" sldId="266"/>
            <ac:spMk id="29" creationId="{00000000-0000-0000-0000-000000000000}"/>
          </ac:spMkLst>
        </pc:spChg>
        <pc:spChg chg="mod">
          <ac:chgData name="benlaama reda" userId="bcc5b9c53340994b" providerId="LiveId" clId="{ECD3E68B-E6B8-4D89-9BA3-15C7879135AF}" dt="2026-05-06T17:20:46.445" v="71" actId="1076"/>
          <ac:spMkLst>
            <pc:docMk/>
            <pc:sldMk cId="0" sldId="266"/>
            <ac:spMk id="32" creationId="{00000000-0000-0000-0000-000000000000}"/>
          </ac:spMkLst>
        </pc:spChg>
        <pc:spChg chg="mod">
          <ac:chgData name="benlaama reda" userId="bcc5b9c53340994b" providerId="LiveId" clId="{ECD3E68B-E6B8-4D89-9BA3-15C7879135AF}" dt="2026-05-06T17:21:01.023" v="73" actId="1076"/>
          <ac:spMkLst>
            <pc:docMk/>
            <pc:sldMk cId="0" sldId="266"/>
            <ac:spMk id="3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Wave 1"/>
          <p:cNvSpPr/>
          <p:nvPr/>
        </p:nvSpPr>
        <p:spPr>
          <a:xfrm>
            <a:off x="-914400" y="-457200"/>
            <a:ext cx="14020495" cy="1371600"/>
          </a:xfrm>
          <a:prstGeom prst="wave">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Wave 2"/>
          <p:cNvSpPr/>
          <p:nvPr/>
        </p:nvSpPr>
        <p:spPr>
          <a:xfrm>
            <a:off x="-914400" y="5943600"/>
            <a:ext cx="14020495" cy="1371600"/>
          </a:xfrm>
          <a:prstGeom prst="wav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820095" y="731520"/>
            <a:ext cx="320040" cy="32004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05695" y="1645920"/>
            <a:ext cx="201168" cy="201168"/>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31520" y="5212080"/>
            <a:ext cx="256032" cy="25603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828800" y="5943600"/>
            <a:ext cx="164592" cy="16459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57200" y="1371600"/>
            <a:ext cx="182880" cy="18288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277295" y="5029200"/>
            <a:ext cx="228600" cy="22860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0" y="2011680"/>
            <a:ext cx="12191695" cy="1097280"/>
          </a:xfrm>
          <a:prstGeom prst="rect">
            <a:avLst/>
          </a:prstGeom>
          <a:noFill/>
        </p:spPr>
        <p:txBody>
          <a:bodyPr wrap="square">
            <a:spAutoFit/>
          </a:bodyPr>
          <a:lstStyle/>
          <a:p>
            <a:pPr algn="ctr">
              <a:defRPr sz="7200" b="1">
                <a:solidFill>
                  <a:srgbClr val="FFFFFF"/>
                </a:solidFill>
                <a:latin typeface="Calibri"/>
              </a:defRPr>
            </a:pPr>
            <a:r>
              <a:t>AquaLife</a:t>
            </a:r>
          </a:p>
        </p:txBody>
      </p:sp>
      <p:sp>
        <p:nvSpPr>
          <p:cNvPr id="11" name="TextBox 10"/>
          <p:cNvSpPr txBox="1"/>
          <p:nvPr/>
        </p:nvSpPr>
        <p:spPr>
          <a:xfrm>
            <a:off x="0" y="3017520"/>
            <a:ext cx="12191695" cy="548640"/>
          </a:xfrm>
          <a:prstGeom prst="rect">
            <a:avLst/>
          </a:prstGeom>
          <a:noFill/>
        </p:spPr>
        <p:txBody>
          <a:bodyPr wrap="square">
            <a:spAutoFit/>
          </a:bodyPr>
          <a:lstStyle/>
          <a:p>
            <a:pPr algn="ctr">
              <a:defRPr sz="2800" b="0">
                <a:solidFill>
                  <a:srgbClr val="17A2B8"/>
                </a:solidFill>
                <a:latin typeface="Calibri"/>
              </a:defRPr>
            </a:pPr>
            <a:r>
              <a:t>Système de Gestion d'Aquarium Public</a:t>
            </a:r>
          </a:p>
        </p:txBody>
      </p:sp>
      <p:sp>
        <p:nvSpPr>
          <p:cNvPr id="12" name="Rectangle 11"/>
          <p:cNvSpPr/>
          <p:nvPr/>
        </p:nvSpPr>
        <p:spPr>
          <a:xfrm>
            <a:off x="4724247" y="3611880"/>
            <a:ext cx="2743200" cy="27432"/>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0" y="3931920"/>
            <a:ext cx="12191695" cy="1828800"/>
          </a:xfrm>
          <a:prstGeom prst="rect">
            <a:avLst/>
          </a:prstGeom>
          <a:noFill/>
        </p:spPr>
        <p:txBody>
          <a:bodyPr wrap="square">
            <a:spAutoFit/>
          </a:bodyPr>
          <a:lstStyle/>
          <a:p>
            <a:pPr algn="ctr">
              <a:defRPr sz="1800" b="0">
                <a:solidFill>
                  <a:srgbClr val="FFFFFF"/>
                </a:solidFill>
                <a:latin typeface="Calibri"/>
              </a:defRPr>
            </a:pPr>
            <a:r>
              <a:t>Réalisé par : Reda BEN LAAMA</a:t>
            </a:r>
            <a:br/>
            <a:r>
              <a:t>Encadré par : M. Mohamed GHAZOUANI</a:t>
            </a:r>
            <a:br/>
            <a:br/>
            <a:r>
              <a:t>École : EMSI — École Marocaine des Sciences de l'Ingénieur</a:t>
            </a:r>
            <a:br/>
            <a:r>
              <a:t>Année universitaire : 2025 / 2026</a:t>
            </a:r>
          </a:p>
        </p:txBody>
      </p:sp>
      <p:pic>
        <p:nvPicPr>
          <p:cNvPr id="15" name="Image 14">
            <a:extLst>
              <a:ext uri="{FF2B5EF4-FFF2-40B4-BE49-F238E27FC236}">
                <a16:creationId xmlns:a16="http://schemas.microsoft.com/office/drawing/2014/main" id="{042E04B4-552E-D1BF-8609-A0E89489F5B3}"/>
              </a:ext>
            </a:extLst>
          </p:cNvPr>
          <p:cNvPicPr>
            <a:picLocks noChangeAspect="1"/>
          </p:cNvPicPr>
          <p:nvPr/>
        </p:nvPicPr>
        <p:blipFill>
          <a:blip r:embed="rId2"/>
          <a:stretch>
            <a:fillRect/>
          </a:stretch>
        </p:blipFill>
        <p:spPr>
          <a:xfrm>
            <a:off x="946740" y="808718"/>
            <a:ext cx="2276793" cy="10383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87552"/>
            <a:ext cx="12191695" cy="45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
            <a:ext cx="11277295" cy="640080"/>
          </a:xfrm>
          <a:prstGeom prst="rect">
            <a:avLst/>
          </a:prstGeom>
          <a:noFill/>
        </p:spPr>
        <p:txBody>
          <a:bodyPr wrap="square">
            <a:spAutoFit/>
          </a:bodyPr>
          <a:lstStyle/>
          <a:p>
            <a:pPr algn="l">
              <a:defRPr sz="3200" b="1">
                <a:solidFill>
                  <a:srgbClr val="FFFFFF"/>
                </a:solidFill>
                <a:latin typeface="Calibri"/>
              </a:defRPr>
            </a:pPr>
            <a:r>
              <a:t>Plan de la présentation</a:t>
            </a:r>
          </a:p>
        </p:txBody>
      </p:sp>
      <p:sp>
        <p:nvSpPr>
          <p:cNvPr id="5" name="Oval 4"/>
          <p:cNvSpPr/>
          <p:nvPr/>
        </p:nvSpPr>
        <p:spPr>
          <a:xfrm>
            <a:off x="10820095" y="731520"/>
            <a:ext cx="320040" cy="32004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05695" y="1645920"/>
            <a:ext cx="201168" cy="201168"/>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5212080"/>
            <a:ext cx="256032" cy="25603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28800" y="5943600"/>
            <a:ext cx="164592" cy="16459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14400" y="1371600"/>
            <a:ext cx="411480" cy="411480"/>
          </a:xfrm>
          <a:prstGeom prst="ellipse">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417320"/>
            <a:ext cx="411480" cy="365760"/>
          </a:xfrm>
          <a:prstGeom prst="rect">
            <a:avLst/>
          </a:prstGeom>
          <a:noFill/>
        </p:spPr>
        <p:txBody>
          <a:bodyPr wrap="square">
            <a:spAutoFit/>
          </a:bodyPr>
          <a:lstStyle/>
          <a:p>
            <a:pPr algn="ctr">
              <a:defRPr sz="1600" b="1">
                <a:solidFill>
                  <a:srgbClr val="FFFFFF"/>
                </a:solidFill>
                <a:latin typeface="Calibri"/>
              </a:defRPr>
            </a:pPr>
            <a:r>
              <a:t>1</a:t>
            </a:r>
          </a:p>
        </p:txBody>
      </p:sp>
      <p:sp>
        <p:nvSpPr>
          <p:cNvPr id="11" name="TextBox 10"/>
          <p:cNvSpPr txBox="1"/>
          <p:nvPr/>
        </p:nvSpPr>
        <p:spPr>
          <a:xfrm>
            <a:off x="1554480" y="1417320"/>
            <a:ext cx="7315200" cy="365760"/>
          </a:xfrm>
          <a:prstGeom prst="rect">
            <a:avLst/>
          </a:prstGeom>
          <a:noFill/>
        </p:spPr>
        <p:txBody>
          <a:bodyPr wrap="square">
            <a:spAutoFit/>
          </a:bodyPr>
          <a:lstStyle/>
          <a:p>
            <a:pPr algn="l">
              <a:defRPr sz="2000" b="0">
                <a:solidFill>
                  <a:srgbClr val="FFFFFF"/>
                </a:solidFill>
                <a:latin typeface="Calibri"/>
              </a:defRPr>
            </a:pPr>
            <a:r>
              <a:t>Introduction &amp; Problématique</a:t>
            </a:r>
          </a:p>
        </p:txBody>
      </p:sp>
      <p:sp>
        <p:nvSpPr>
          <p:cNvPr id="12" name="Rectangle 11"/>
          <p:cNvSpPr/>
          <p:nvPr/>
        </p:nvSpPr>
        <p:spPr>
          <a:xfrm>
            <a:off x="1097280" y="1783080"/>
            <a:ext cx="45720" cy="182880"/>
          </a:xfrm>
          <a:prstGeom prst="rect">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14400" y="1965960"/>
            <a:ext cx="411480" cy="41148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2011680"/>
            <a:ext cx="411480" cy="365760"/>
          </a:xfrm>
          <a:prstGeom prst="rect">
            <a:avLst/>
          </a:prstGeom>
          <a:noFill/>
        </p:spPr>
        <p:txBody>
          <a:bodyPr wrap="square">
            <a:spAutoFit/>
          </a:bodyPr>
          <a:lstStyle/>
          <a:p>
            <a:pPr algn="ctr">
              <a:defRPr sz="1600" b="1">
                <a:solidFill>
                  <a:srgbClr val="FFFFFF"/>
                </a:solidFill>
                <a:latin typeface="Calibri"/>
              </a:defRPr>
            </a:pPr>
            <a:r>
              <a:t>2</a:t>
            </a:r>
          </a:p>
        </p:txBody>
      </p:sp>
      <p:sp>
        <p:nvSpPr>
          <p:cNvPr id="15" name="TextBox 14"/>
          <p:cNvSpPr txBox="1"/>
          <p:nvPr/>
        </p:nvSpPr>
        <p:spPr>
          <a:xfrm>
            <a:off x="1554480" y="2011680"/>
            <a:ext cx="7315200" cy="365760"/>
          </a:xfrm>
          <a:prstGeom prst="rect">
            <a:avLst/>
          </a:prstGeom>
          <a:noFill/>
        </p:spPr>
        <p:txBody>
          <a:bodyPr wrap="square">
            <a:spAutoFit/>
          </a:bodyPr>
          <a:lstStyle/>
          <a:p>
            <a:pPr algn="l">
              <a:defRPr sz="2000" b="0">
                <a:solidFill>
                  <a:srgbClr val="FFFFFF"/>
                </a:solidFill>
                <a:latin typeface="Calibri"/>
              </a:defRPr>
            </a:pPr>
            <a:r>
              <a:t>Contexte &amp; Objectifs</a:t>
            </a:r>
          </a:p>
        </p:txBody>
      </p:sp>
      <p:sp>
        <p:nvSpPr>
          <p:cNvPr id="16" name="Rectangle 15"/>
          <p:cNvSpPr/>
          <p:nvPr/>
        </p:nvSpPr>
        <p:spPr>
          <a:xfrm>
            <a:off x="1097280" y="2377440"/>
            <a:ext cx="45720" cy="182880"/>
          </a:xfrm>
          <a:prstGeom prst="rect">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14400" y="2560320"/>
            <a:ext cx="411480" cy="41148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2606040"/>
            <a:ext cx="411480" cy="365760"/>
          </a:xfrm>
          <a:prstGeom prst="rect">
            <a:avLst/>
          </a:prstGeom>
          <a:noFill/>
        </p:spPr>
        <p:txBody>
          <a:bodyPr wrap="square">
            <a:spAutoFit/>
          </a:bodyPr>
          <a:lstStyle/>
          <a:p>
            <a:pPr algn="ctr">
              <a:defRPr sz="1600" b="1">
                <a:solidFill>
                  <a:srgbClr val="FFFFFF"/>
                </a:solidFill>
                <a:latin typeface="Calibri"/>
              </a:defRPr>
            </a:pPr>
            <a:r>
              <a:t>3</a:t>
            </a:r>
          </a:p>
        </p:txBody>
      </p:sp>
      <p:sp>
        <p:nvSpPr>
          <p:cNvPr id="19" name="TextBox 18"/>
          <p:cNvSpPr txBox="1"/>
          <p:nvPr/>
        </p:nvSpPr>
        <p:spPr>
          <a:xfrm>
            <a:off x="1554480" y="2606040"/>
            <a:ext cx="7315200" cy="365760"/>
          </a:xfrm>
          <a:prstGeom prst="rect">
            <a:avLst/>
          </a:prstGeom>
          <a:noFill/>
        </p:spPr>
        <p:txBody>
          <a:bodyPr wrap="square">
            <a:spAutoFit/>
          </a:bodyPr>
          <a:lstStyle/>
          <a:p>
            <a:pPr algn="l">
              <a:defRPr sz="2000" b="0">
                <a:solidFill>
                  <a:srgbClr val="FFFFFF"/>
                </a:solidFill>
                <a:latin typeface="Calibri"/>
              </a:defRPr>
            </a:pPr>
            <a:r>
              <a:t>Méthodologie (Agile Scrum)</a:t>
            </a:r>
          </a:p>
        </p:txBody>
      </p:sp>
      <p:sp>
        <p:nvSpPr>
          <p:cNvPr id="20" name="Rectangle 19"/>
          <p:cNvSpPr/>
          <p:nvPr/>
        </p:nvSpPr>
        <p:spPr>
          <a:xfrm>
            <a:off x="1097280" y="2971800"/>
            <a:ext cx="45720" cy="182880"/>
          </a:xfrm>
          <a:prstGeom prst="rect">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14400" y="3154680"/>
            <a:ext cx="411480" cy="411480"/>
          </a:xfrm>
          <a:prstGeom prst="ellipse">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3200400"/>
            <a:ext cx="411480" cy="365760"/>
          </a:xfrm>
          <a:prstGeom prst="rect">
            <a:avLst/>
          </a:prstGeom>
          <a:noFill/>
        </p:spPr>
        <p:txBody>
          <a:bodyPr wrap="square">
            <a:spAutoFit/>
          </a:bodyPr>
          <a:lstStyle/>
          <a:p>
            <a:pPr algn="ctr">
              <a:defRPr sz="1600" b="1">
                <a:solidFill>
                  <a:srgbClr val="FFFFFF"/>
                </a:solidFill>
                <a:latin typeface="Calibri"/>
              </a:defRPr>
            </a:pPr>
            <a:r>
              <a:t>4</a:t>
            </a:r>
          </a:p>
        </p:txBody>
      </p:sp>
      <p:sp>
        <p:nvSpPr>
          <p:cNvPr id="23" name="TextBox 22"/>
          <p:cNvSpPr txBox="1"/>
          <p:nvPr/>
        </p:nvSpPr>
        <p:spPr>
          <a:xfrm>
            <a:off x="1554480" y="3200400"/>
            <a:ext cx="7315200" cy="365760"/>
          </a:xfrm>
          <a:prstGeom prst="rect">
            <a:avLst/>
          </a:prstGeom>
          <a:noFill/>
        </p:spPr>
        <p:txBody>
          <a:bodyPr wrap="square">
            <a:spAutoFit/>
          </a:bodyPr>
          <a:lstStyle/>
          <a:p>
            <a:pPr algn="l">
              <a:defRPr sz="2000" b="0">
                <a:solidFill>
                  <a:srgbClr val="FFFFFF"/>
                </a:solidFill>
                <a:latin typeface="Calibri"/>
              </a:defRPr>
            </a:pPr>
            <a:r>
              <a:t>Analyse des Besoins</a:t>
            </a:r>
          </a:p>
        </p:txBody>
      </p:sp>
      <p:sp>
        <p:nvSpPr>
          <p:cNvPr id="24" name="Rectangle 23"/>
          <p:cNvSpPr/>
          <p:nvPr/>
        </p:nvSpPr>
        <p:spPr>
          <a:xfrm>
            <a:off x="1097280" y="3566160"/>
            <a:ext cx="45720" cy="182880"/>
          </a:xfrm>
          <a:prstGeom prst="rect">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14400" y="3749040"/>
            <a:ext cx="411480" cy="41148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3794760"/>
            <a:ext cx="411480" cy="365760"/>
          </a:xfrm>
          <a:prstGeom prst="rect">
            <a:avLst/>
          </a:prstGeom>
          <a:noFill/>
        </p:spPr>
        <p:txBody>
          <a:bodyPr wrap="square">
            <a:spAutoFit/>
          </a:bodyPr>
          <a:lstStyle/>
          <a:p>
            <a:pPr algn="ctr">
              <a:defRPr sz="1600" b="1">
                <a:solidFill>
                  <a:srgbClr val="FFFFFF"/>
                </a:solidFill>
                <a:latin typeface="Calibri"/>
              </a:defRPr>
            </a:pPr>
            <a:r>
              <a:t>5</a:t>
            </a:r>
          </a:p>
        </p:txBody>
      </p:sp>
      <p:sp>
        <p:nvSpPr>
          <p:cNvPr id="27" name="TextBox 26"/>
          <p:cNvSpPr txBox="1"/>
          <p:nvPr/>
        </p:nvSpPr>
        <p:spPr>
          <a:xfrm>
            <a:off x="1554480" y="3794760"/>
            <a:ext cx="7315200" cy="365760"/>
          </a:xfrm>
          <a:prstGeom prst="rect">
            <a:avLst/>
          </a:prstGeom>
          <a:noFill/>
        </p:spPr>
        <p:txBody>
          <a:bodyPr wrap="square">
            <a:spAutoFit/>
          </a:bodyPr>
          <a:lstStyle/>
          <a:p>
            <a:pPr algn="l">
              <a:defRPr sz="2000" b="0">
                <a:solidFill>
                  <a:srgbClr val="FFFFFF"/>
                </a:solidFill>
                <a:latin typeface="Calibri"/>
              </a:defRPr>
            </a:pPr>
            <a:r>
              <a:t>Architecture &amp; Conception UML</a:t>
            </a:r>
          </a:p>
        </p:txBody>
      </p:sp>
      <p:sp>
        <p:nvSpPr>
          <p:cNvPr id="28" name="Rectangle 27"/>
          <p:cNvSpPr/>
          <p:nvPr/>
        </p:nvSpPr>
        <p:spPr>
          <a:xfrm>
            <a:off x="1097280" y="4160520"/>
            <a:ext cx="45720" cy="182880"/>
          </a:xfrm>
          <a:prstGeom prst="rect">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14400" y="4343400"/>
            <a:ext cx="411480" cy="41148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4389120"/>
            <a:ext cx="411480" cy="365760"/>
          </a:xfrm>
          <a:prstGeom prst="rect">
            <a:avLst/>
          </a:prstGeom>
          <a:noFill/>
        </p:spPr>
        <p:txBody>
          <a:bodyPr wrap="square">
            <a:spAutoFit/>
          </a:bodyPr>
          <a:lstStyle/>
          <a:p>
            <a:pPr algn="ctr">
              <a:defRPr sz="1600" b="1">
                <a:solidFill>
                  <a:srgbClr val="FFFFFF"/>
                </a:solidFill>
                <a:latin typeface="Calibri"/>
              </a:defRPr>
            </a:pPr>
            <a:r>
              <a:t>6</a:t>
            </a:r>
          </a:p>
        </p:txBody>
      </p:sp>
      <p:sp>
        <p:nvSpPr>
          <p:cNvPr id="31" name="TextBox 30"/>
          <p:cNvSpPr txBox="1"/>
          <p:nvPr/>
        </p:nvSpPr>
        <p:spPr>
          <a:xfrm>
            <a:off x="1554480" y="4389120"/>
            <a:ext cx="7315200" cy="365760"/>
          </a:xfrm>
          <a:prstGeom prst="rect">
            <a:avLst/>
          </a:prstGeom>
          <a:noFill/>
        </p:spPr>
        <p:txBody>
          <a:bodyPr wrap="square">
            <a:spAutoFit/>
          </a:bodyPr>
          <a:lstStyle/>
          <a:p>
            <a:pPr algn="l">
              <a:defRPr sz="2000" b="0">
                <a:solidFill>
                  <a:srgbClr val="FFFFFF"/>
                </a:solidFill>
                <a:latin typeface="Calibri"/>
              </a:defRPr>
            </a:pPr>
            <a:r>
              <a:t>Implémentation &amp; Technologies</a:t>
            </a:r>
          </a:p>
        </p:txBody>
      </p:sp>
      <p:sp>
        <p:nvSpPr>
          <p:cNvPr id="32" name="Rectangle 31"/>
          <p:cNvSpPr/>
          <p:nvPr/>
        </p:nvSpPr>
        <p:spPr>
          <a:xfrm>
            <a:off x="1097280" y="4754880"/>
            <a:ext cx="45720" cy="182880"/>
          </a:xfrm>
          <a:prstGeom prst="rect">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914400" y="4937760"/>
            <a:ext cx="411480" cy="411480"/>
          </a:xfrm>
          <a:prstGeom prst="ellipse">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4400" y="4983480"/>
            <a:ext cx="411480" cy="365760"/>
          </a:xfrm>
          <a:prstGeom prst="rect">
            <a:avLst/>
          </a:prstGeom>
          <a:noFill/>
        </p:spPr>
        <p:txBody>
          <a:bodyPr wrap="square">
            <a:spAutoFit/>
          </a:bodyPr>
          <a:lstStyle/>
          <a:p>
            <a:pPr algn="ctr">
              <a:defRPr sz="1600" b="1">
                <a:solidFill>
                  <a:srgbClr val="FFFFFF"/>
                </a:solidFill>
                <a:latin typeface="Calibri"/>
              </a:defRPr>
            </a:pPr>
            <a:r>
              <a:t>7</a:t>
            </a:r>
          </a:p>
        </p:txBody>
      </p:sp>
      <p:sp>
        <p:nvSpPr>
          <p:cNvPr id="35" name="TextBox 34"/>
          <p:cNvSpPr txBox="1"/>
          <p:nvPr/>
        </p:nvSpPr>
        <p:spPr>
          <a:xfrm>
            <a:off x="1554480" y="4983480"/>
            <a:ext cx="7315200" cy="365760"/>
          </a:xfrm>
          <a:prstGeom prst="rect">
            <a:avLst/>
          </a:prstGeom>
          <a:noFill/>
        </p:spPr>
        <p:txBody>
          <a:bodyPr wrap="square">
            <a:spAutoFit/>
          </a:bodyPr>
          <a:lstStyle/>
          <a:p>
            <a:pPr algn="l">
              <a:defRPr sz="2000" b="0">
                <a:solidFill>
                  <a:srgbClr val="FFFFFF"/>
                </a:solidFill>
                <a:latin typeface="Calibri"/>
              </a:defRPr>
            </a:pPr>
            <a:r>
              <a:t>Démonstration de l'application</a:t>
            </a:r>
          </a:p>
        </p:txBody>
      </p:sp>
      <p:sp>
        <p:nvSpPr>
          <p:cNvPr id="36" name="Rectangle 35"/>
          <p:cNvSpPr/>
          <p:nvPr/>
        </p:nvSpPr>
        <p:spPr>
          <a:xfrm>
            <a:off x="1097280" y="5349240"/>
            <a:ext cx="45720" cy="182880"/>
          </a:xfrm>
          <a:prstGeom prst="rect">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914400" y="5532120"/>
            <a:ext cx="411480" cy="41148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5577840"/>
            <a:ext cx="411480" cy="365760"/>
          </a:xfrm>
          <a:prstGeom prst="rect">
            <a:avLst/>
          </a:prstGeom>
          <a:noFill/>
        </p:spPr>
        <p:txBody>
          <a:bodyPr wrap="square">
            <a:spAutoFit/>
          </a:bodyPr>
          <a:lstStyle/>
          <a:p>
            <a:pPr algn="ctr">
              <a:defRPr sz="1600" b="1">
                <a:solidFill>
                  <a:srgbClr val="FFFFFF"/>
                </a:solidFill>
                <a:latin typeface="Calibri"/>
              </a:defRPr>
            </a:pPr>
            <a:r>
              <a:t>8</a:t>
            </a:r>
          </a:p>
        </p:txBody>
      </p:sp>
      <p:sp>
        <p:nvSpPr>
          <p:cNvPr id="39" name="TextBox 38"/>
          <p:cNvSpPr txBox="1"/>
          <p:nvPr/>
        </p:nvSpPr>
        <p:spPr>
          <a:xfrm>
            <a:off x="1554480" y="5577840"/>
            <a:ext cx="7315200" cy="365760"/>
          </a:xfrm>
          <a:prstGeom prst="rect">
            <a:avLst/>
          </a:prstGeom>
          <a:noFill/>
        </p:spPr>
        <p:txBody>
          <a:bodyPr wrap="square">
            <a:spAutoFit/>
          </a:bodyPr>
          <a:lstStyle/>
          <a:p>
            <a:pPr algn="l">
              <a:defRPr sz="2000" b="0">
                <a:solidFill>
                  <a:srgbClr val="FFFFFF"/>
                </a:solidFill>
                <a:latin typeface="Calibri"/>
              </a:defRPr>
            </a:pPr>
            <a:r>
              <a:t>Conclusion &amp; Perspectives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87552"/>
            <a:ext cx="12191695" cy="45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
            <a:ext cx="11277295" cy="640080"/>
          </a:xfrm>
          <a:prstGeom prst="rect">
            <a:avLst/>
          </a:prstGeom>
          <a:noFill/>
        </p:spPr>
        <p:txBody>
          <a:bodyPr wrap="square">
            <a:spAutoFit/>
          </a:bodyPr>
          <a:lstStyle/>
          <a:p>
            <a:pPr algn="l">
              <a:defRPr sz="3200" b="1">
                <a:solidFill>
                  <a:srgbClr val="FFFFFF"/>
                </a:solidFill>
                <a:latin typeface="Calibri"/>
              </a:defRPr>
            </a:pPr>
            <a:r>
              <a:t>Introduction &amp; Problématique</a:t>
            </a:r>
          </a:p>
        </p:txBody>
      </p:sp>
      <p:sp>
        <p:nvSpPr>
          <p:cNvPr id="5" name="Oval 4"/>
          <p:cNvSpPr/>
          <p:nvPr/>
        </p:nvSpPr>
        <p:spPr>
          <a:xfrm>
            <a:off x="10820095" y="731520"/>
            <a:ext cx="320040" cy="32004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05695" y="1645920"/>
            <a:ext cx="201168" cy="201168"/>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5212080"/>
            <a:ext cx="256032" cy="25603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28800" y="5943600"/>
            <a:ext cx="164592" cy="16459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371600"/>
            <a:ext cx="10728655" cy="731520"/>
          </a:xfrm>
          <a:prstGeom prst="rect">
            <a:avLst/>
          </a:prstGeom>
          <a:noFill/>
        </p:spPr>
        <p:txBody>
          <a:bodyPr wrap="square">
            <a:spAutoFit/>
          </a:bodyPr>
          <a:lstStyle/>
          <a:p>
            <a:pPr algn="l">
              <a:defRPr sz="2000" b="0">
                <a:solidFill>
                  <a:srgbClr val="FFFFFF"/>
                </a:solidFill>
                <a:latin typeface="Calibri"/>
              </a:defRPr>
            </a:pPr>
            <a:r>
              <a:t>La gestion d'un aquarium public est complexe : diversité des espèces, variété des bassins (eau douce, saumâtre, salée), paramètres critiques (température, pH).</a:t>
            </a:r>
          </a:p>
        </p:txBody>
      </p:sp>
      <p:sp>
        <p:nvSpPr>
          <p:cNvPr id="10" name="Rounded Rectangle 9"/>
          <p:cNvSpPr/>
          <p:nvPr/>
        </p:nvSpPr>
        <p:spPr>
          <a:xfrm>
            <a:off x="731520" y="2377440"/>
            <a:ext cx="10728655" cy="2011680"/>
          </a:xfrm>
          <a:prstGeom prst="roundRect">
            <a:avLst/>
          </a:prstGeom>
          <a:solidFill>
            <a:srgbClr val="003C78"/>
          </a:solidFill>
          <a:ln w="38100">
            <a:solidFill>
              <a:srgbClr val="007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097280" y="2148840"/>
            <a:ext cx="2011680" cy="365760"/>
          </a:xfrm>
          <a:prstGeom prst="round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2176272"/>
            <a:ext cx="2011680" cy="365760"/>
          </a:xfrm>
          <a:prstGeom prst="rect">
            <a:avLst/>
          </a:prstGeom>
          <a:noFill/>
        </p:spPr>
        <p:txBody>
          <a:bodyPr wrap="square">
            <a:spAutoFit/>
          </a:bodyPr>
          <a:lstStyle/>
          <a:p>
            <a:pPr algn="ctr">
              <a:defRPr sz="1400" b="1">
                <a:solidFill>
                  <a:srgbClr val="FFFFFF"/>
                </a:solidFill>
                <a:latin typeface="Calibri"/>
              </a:defRPr>
            </a:pPr>
            <a:r>
              <a:t>Problématique</a:t>
            </a:r>
          </a:p>
        </p:txBody>
      </p:sp>
      <p:sp>
        <p:nvSpPr>
          <p:cNvPr id="13" name="TextBox 12"/>
          <p:cNvSpPr txBox="1"/>
          <p:nvPr/>
        </p:nvSpPr>
        <p:spPr>
          <a:xfrm>
            <a:off x="914400" y="2651760"/>
            <a:ext cx="10362895" cy="1645920"/>
          </a:xfrm>
          <a:prstGeom prst="rect">
            <a:avLst/>
          </a:prstGeom>
          <a:noFill/>
        </p:spPr>
        <p:txBody>
          <a:bodyPr wrap="square">
            <a:spAutoFit/>
          </a:bodyPr>
          <a:lstStyle/>
          <a:p>
            <a:pPr algn="l">
              <a:defRPr sz="1800" b="0">
                <a:solidFill>
                  <a:srgbClr val="FFFFFF"/>
                </a:solidFill>
                <a:latin typeface="Calibri"/>
              </a:defRPr>
            </a:pPr>
            <a:r>
              <a:t>Comment centraliser efficacement l'inventaire des espèces et assurer un suivi rigoureux des paramètres des bassins pour des équipes composées de conservateurs et de soigneurs, tout en bénéficiant d'une interface d'administration puissante pour prévenir les anomalies ?</a:t>
            </a:r>
          </a:p>
        </p:txBody>
      </p:sp>
      <p:sp>
        <p:nvSpPr>
          <p:cNvPr id="14" name="TextBox 13"/>
          <p:cNvSpPr txBox="1"/>
          <p:nvPr/>
        </p:nvSpPr>
        <p:spPr>
          <a:xfrm>
            <a:off x="731520" y="4754880"/>
            <a:ext cx="10728655" cy="457200"/>
          </a:xfrm>
          <a:prstGeom prst="rect">
            <a:avLst/>
          </a:prstGeom>
          <a:noFill/>
        </p:spPr>
        <p:txBody>
          <a:bodyPr wrap="square">
            <a:spAutoFit/>
          </a:bodyPr>
          <a:lstStyle/>
          <a:p>
            <a:pPr algn="ctr">
              <a:defRPr sz="1400" b="0">
                <a:solidFill>
                  <a:srgbClr val="17A2B8"/>
                </a:solidFill>
                <a:latin typeface="Calibri"/>
              </a:defRPr>
            </a:pPr>
            <a:r>
              <a:t>🔬 Enjeux : Préservation de la biodiversité marine | Sécurité des espèces | Efficacité opérationnelle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87552"/>
            <a:ext cx="12191695" cy="45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
            <a:ext cx="11277295" cy="640080"/>
          </a:xfrm>
          <a:prstGeom prst="rect">
            <a:avLst/>
          </a:prstGeom>
          <a:noFill/>
        </p:spPr>
        <p:txBody>
          <a:bodyPr wrap="square">
            <a:spAutoFit/>
          </a:bodyPr>
          <a:lstStyle/>
          <a:p>
            <a:pPr algn="l">
              <a:defRPr sz="3200" b="1">
                <a:solidFill>
                  <a:srgbClr val="FFFFFF"/>
                </a:solidFill>
                <a:latin typeface="Calibri"/>
              </a:defRPr>
            </a:pPr>
            <a:r>
              <a:t>Objectifs du projet</a:t>
            </a:r>
          </a:p>
        </p:txBody>
      </p:sp>
      <p:sp>
        <p:nvSpPr>
          <p:cNvPr id="5" name="Oval 4"/>
          <p:cNvSpPr/>
          <p:nvPr/>
        </p:nvSpPr>
        <p:spPr>
          <a:xfrm>
            <a:off x="10820095" y="731520"/>
            <a:ext cx="320040" cy="32004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05695" y="1645920"/>
            <a:ext cx="201168" cy="201168"/>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5212080"/>
            <a:ext cx="256032" cy="25603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28800" y="5943600"/>
            <a:ext cx="164592" cy="16459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371600"/>
            <a:ext cx="5303520" cy="2103120"/>
          </a:xfrm>
          <a:prstGeom prst="roundRect">
            <a:avLst/>
          </a:prstGeom>
          <a:solidFill>
            <a:srgbClr val="003264"/>
          </a:solidFill>
          <a:ln w="25400">
            <a:solidFill>
              <a:srgbClr val="007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14400" y="1645920"/>
            <a:ext cx="548640" cy="548640"/>
          </a:xfrm>
          <a:prstGeom prst="ellipse">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719072"/>
            <a:ext cx="548640" cy="457200"/>
          </a:xfrm>
          <a:prstGeom prst="rect">
            <a:avLst/>
          </a:prstGeom>
          <a:noFill/>
        </p:spPr>
        <p:txBody>
          <a:bodyPr wrap="square">
            <a:spAutoFit/>
          </a:bodyPr>
          <a:lstStyle/>
          <a:p>
            <a:pPr algn="ctr">
              <a:defRPr sz="2400" b="1">
                <a:solidFill>
                  <a:srgbClr val="FFFFFF"/>
                </a:solidFill>
                <a:latin typeface="Calibri"/>
              </a:defRPr>
            </a:pPr>
            <a:r>
              <a:t>🐟</a:t>
            </a:r>
          </a:p>
        </p:txBody>
      </p:sp>
      <p:sp>
        <p:nvSpPr>
          <p:cNvPr id="12" name="TextBox 11"/>
          <p:cNvSpPr txBox="1"/>
          <p:nvPr/>
        </p:nvSpPr>
        <p:spPr>
          <a:xfrm>
            <a:off x="1645920" y="1691640"/>
            <a:ext cx="4023360" cy="457200"/>
          </a:xfrm>
          <a:prstGeom prst="rect">
            <a:avLst/>
          </a:prstGeom>
          <a:noFill/>
        </p:spPr>
        <p:txBody>
          <a:bodyPr wrap="square">
            <a:spAutoFit/>
          </a:bodyPr>
          <a:lstStyle/>
          <a:p>
            <a:pPr algn="l">
              <a:defRPr sz="1800" b="1">
                <a:solidFill>
                  <a:srgbClr val="FFFFFF"/>
                </a:solidFill>
                <a:latin typeface="Calibri"/>
              </a:defRPr>
            </a:pPr>
            <a:r>
              <a:t>Répertorier l'inventaire biologique des espèces</a:t>
            </a:r>
          </a:p>
        </p:txBody>
      </p:sp>
      <p:sp>
        <p:nvSpPr>
          <p:cNvPr id="13" name="TextBox 12"/>
          <p:cNvSpPr txBox="1"/>
          <p:nvPr/>
        </p:nvSpPr>
        <p:spPr>
          <a:xfrm>
            <a:off x="914400" y="2377440"/>
            <a:ext cx="4754880" cy="914400"/>
          </a:xfrm>
          <a:prstGeom prst="rect">
            <a:avLst/>
          </a:prstGeom>
          <a:noFill/>
        </p:spPr>
        <p:txBody>
          <a:bodyPr wrap="square">
            <a:spAutoFit/>
          </a:bodyPr>
          <a:lstStyle/>
          <a:p>
            <a:pPr algn="l">
              <a:defRPr sz="1400" b="0">
                <a:solidFill>
                  <a:srgbClr val="C8DCF0"/>
                </a:solidFill>
                <a:latin typeface="Calibri"/>
              </a:defRPr>
            </a:pPr>
            <a:r>
              <a:t>Cataloguer chaque espèce avec nom commun, scientifique, famille et statut de conservation.</a:t>
            </a:r>
          </a:p>
        </p:txBody>
      </p:sp>
      <p:sp>
        <p:nvSpPr>
          <p:cNvPr id="14" name="Rounded Rectangle 13"/>
          <p:cNvSpPr/>
          <p:nvPr/>
        </p:nvSpPr>
        <p:spPr>
          <a:xfrm>
            <a:off x="6309360" y="1371600"/>
            <a:ext cx="5303520" cy="2103120"/>
          </a:xfrm>
          <a:prstGeom prst="roundRect">
            <a:avLst/>
          </a:prstGeom>
          <a:solidFill>
            <a:srgbClr val="003264"/>
          </a:solidFill>
          <a:ln w="25400">
            <a:solidFill>
              <a:srgbClr val="17A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583680" y="1645920"/>
            <a:ext cx="548640" cy="54864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1719072"/>
            <a:ext cx="548640" cy="457200"/>
          </a:xfrm>
          <a:prstGeom prst="rect">
            <a:avLst/>
          </a:prstGeom>
          <a:noFill/>
        </p:spPr>
        <p:txBody>
          <a:bodyPr wrap="square">
            <a:spAutoFit/>
          </a:bodyPr>
          <a:lstStyle/>
          <a:p>
            <a:pPr algn="ctr">
              <a:defRPr sz="2400" b="1">
                <a:solidFill>
                  <a:srgbClr val="FFFFFF"/>
                </a:solidFill>
                <a:latin typeface="Calibri"/>
              </a:defRPr>
            </a:pPr>
            <a:r>
              <a:t>🪣</a:t>
            </a:r>
          </a:p>
        </p:txBody>
      </p:sp>
      <p:sp>
        <p:nvSpPr>
          <p:cNvPr id="17" name="TextBox 16"/>
          <p:cNvSpPr txBox="1"/>
          <p:nvPr/>
        </p:nvSpPr>
        <p:spPr>
          <a:xfrm>
            <a:off x="7315200" y="1691640"/>
            <a:ext cx="4023360" cy="457200"/>
          </a:xfrm>
          <a:prstGeom prst="rect">
            <a:avLst/>
          </a:prstGeom>
          <a:noFill/>
        </p:spPr>
        <p:txBody>
          <a:bodyPr wrap="square">
            <a:spAutoFit/>
          </a:bodyPr>
          <a:lstStyle/>
          <a:p>
            <a:pPr algn="l">
              <a:defRPr sz="1800" b="1">
                <a:solidFill>
                  <a:srgbClr val="FFFFFF"/>
                </a:solidFill>
                <a:latin typeface="Calibri"/>
              </a:defRPr>
            </a:pPr>
            <a:r>
              <a:t>Gérer l'affectation des espèces dans les bassins</a:t>
            </a:r>
          </a:p>
        </p:txBody>
      </p:sp>
      <p:sp>
        <p:nvSpPr>
          <p:cNvPr id="18" name="TextBox 17"/>
          <p:cNvSpPr txBox="1"/>
          <p:nvPr/>
        </p:nvSpPr>
        <p:spPr>
          <a:xfrm>
            <a:off x="6583680" y="2377440"/>
            <a:ext cx="4754880" cy="914400"/>
          </a:xfrm>
          <a:prstGeom prst="rect">
            <a:avLst/>
          </a:prstGeom>
          <a:noFill/>
        </p:spPr>
        <p:txBody>
          <a:bodyPr wrap="square">
            <a:spAutoFit/>
          </a:bodyPr>
          <a:lstStyle/>
          <a:p>
            <a:pPr algn="l">
              <a:defRPr sz="1400" b="0">
                <a:solidFill>
                  <a:srgbClr val="C8DCF0"/>
                </a:solidFill>
                <a:latin typeface="Calibri"/>
              </a:defRPr>
            </a:pPr>
            <a:r>
              <a:t>Associer chaque espèce à son bassin adapté selon le type d'eau requis.</a:t>
            </a:r>
          </a:p>
        </p:txBody>
      </p:sp>
      <p:sp>
        <p:nvSpPr>
          <p:cNvPr id="19" name="Rounded Rectangle 18"/>
          <p:cNvSpPr/>
          <p:nvPr/>
        </p:nvSpPr>
        <p:spPr>
          <a:xfrm>
            <a:off x="640080" y="3749040"/>
            <a:ext cx="5303520" cy="2103120"/>
          </a:xfrm>
          <a:prstGeom prst="roundRect">
            <a:avLst/>
          </a:prstGeom>
          <a:solidFill>
            <a:srgbClr val="003264"/>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14400" y="4023360"/>
            <a:ext cx="548640" cy="54864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4096512"/>
            <a:ext cx="548640" cy="457200"/>
          </a:xfrm>
          <a:prstGeom prst="rect">
            <a:avLst/>
          </a:prstGeom>
          <a:noFill/>
        </p:spPr>
        <p:txBody>
          <a:bodyPr wrap="square">
            <a:spAutoFit/>
          </a:bodyPr>
          <a:lstStyle/>
          <a:p>
            <a:pPr algn="ctr">
              <a:defRPr sz="2400" b="1">
                <a:solidFill>
                  <a:srgbClr val="FFFFFF"/>
                </a:solidFill>
                <a:latin typeface="Calibri"/>
              </a:defRPr>
            </a:pPr>
            <a:r>
              <a:t>🌡️</a:t>
            </a:r>
          </a:p>
        </p:txBody>
      </p:sp>
      <p:sp>
        <p:nvSpPr>
          <p:cNvPr id="22" name="TextBox 21"/>
          <p:cNvSpPr txBox="1"/>
          <p:nvPr/>
        </p:nvSpPr>
        <p:spPr>
          <a:xfrm>
            <a:off x="1645920" y="4069080"/>
            <a:ext cx="4023360" cy="457200"/>
          </a:xfrm>
          <a:prstGeom prst="rect">
            <a:avLst/>
          </a:prstGeom>
          <a:noFill/>
        </p:spPr>
        <p:txBody>
          <a:bodyPr wrap="square">
            <a:spAutoFit/>
          </a:bodyPr>
          <a:lstStyle/>
          <a:p>
            <a:pPr algn="l">
              <a:defRPr sz="1800" b="1">
                <a:solidFill>
                  <a:srgbClr val="FFFFFF"/>
                </a:solidFill>
                <a:latin typeface="Calibri"/>
              </a:defRPr>
            </a:pPr>
            <a:r>
              <a:t>Surveiller les paramètres de survie</a:t>
            </a:r>
          </a:p>
        </p:txBody>
      </p:sp>
      <p:sp>
        <p:nvSpPr>
          <p:cNvPr id="23" name="TextBox 22"/>
          <p:cNvSpPr txBox="1"/>
          <p:nvPr/>
        </p:nvSpPr>
        <p:spPr>
          <a:xfrm>
            <a:off x="914400" y="4754880"/>
            <a:ext cx="4754880" cy="914400"/>
          </a:xfrm>
          <a:prstGeom prst="rect">
            <a:avLst/>
          </a:prstGeom>
          <a:noFill/>
        </p:spPr>
        <p:txBody>
          <a:bodyPr wrap="square">
            <a:spAutoFit/>
          </a:bodyPr>
          <a:lstStyle/>
          <a:p>
            <a:pPr algn="l">
              <a:defRPr sz="1400" b="0">
                <a:solidFill>
                  <a:srgbClr val="C8DCF0"/>
                </a:solidFill>
                <a:latin typeface="Calibri"/>
              </a:defRPr>
            </a:pPr>
            <a:r>
              <a:t>Suivre en temps réel le pH, la température et les mesures critiques pour chaque bassin.</a:t>
            </a:r>
          </a:p>
        </p:txBody>
      </p:sp>
      <p:sp>
        <p:nvSpPr>
          <p:cNvPr id="24" name="Rounded Rectangle 23"/>
          <p:cNvSpPr/>
          <p:nvPr/>
        </p:nvSpPr>
        <p:spPr>
          <a:xfrm>
            <a:off x="6309360" y="3749040"/>
            <a:ext cx="5303520" cy="2103120"/>
          </a:xfrm>
          <a:prstGeom prst="roundRect">
            <a:avLst/>
          </a:prstGeom>
          <a:solidFill>
            <a:srgbClr val="003264"/>
          </a:solidFill>
          <a:ln w="25400">
            <a:solidFill>
              <a:srgbClr val="007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583680" y="4023360"/>
            <a:ext cx="548640" cy="548640"/>
          </a:xfrm>
          <a:prstGeom prst="ellipse">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0" y="4096512"/>
            <a:ext cx="548640" cy="457200"/>
          </a:xfrm>
          <a:prstGeom prst="rect">
            <a:avLst/>
          </a:prstGeom>
          <a:noFill/>
        </p:spPr>
        <p:txBody>
          <a:bodyPr wrap="square">
            <a:spAutoFit/>
          </a:bodyPr>
          <a:lstStyle/>
          <a:p>
            <a:pPr algn="ctr">
              <a:defRPr sz="2400" b="1">
                <a:solidFill>
                  <a:srgbClr val="FFFFFF"/>
                </a:solidFill>
                <a:latin typeface="Calibri"/>
              </a:defRPr>
            </a:pPr>
            <a:r>
              <a:t>🔍</a:t>
            </a:r>
          </a:p>
        </p:txBody>
      </p:sp>
      <p:sp>
        <p:nvSpPr>
          <p:cNvPr id="27" name="TextBox 26"/>
          <p:cNvSpPr txBox="1"/>
          <p:nvPr/>
        </p:nvSpPr>
        <p:spPr>
          <a:xfrm>
            <a:off x="7315200" y="4069080"/>
            <a:ext cx="4023360" cy="457200"/>
          </a:xfrm>
          <a:prstGeom prst="rect">
            <a:avLst/>
          </a:prstGeom>
          <a:noFill/>
        </p:spPr>
        <p:txBody>
          <a:bodyPr wrap="square">
            <a:spAutoFit/>
          </a:bodyPr>
          <a:lstStyle/>
          <a:p>
            <a:pPr algn="l">
              <a:defRPr sz="1800" b="1">
                <a:solidFill>
                  <a:srgbClr val="FFFFFF"/>
                </a:solidFill>
                <a:latin typeface="Calibri"/>
              </a:defRPr>
            </a:pPr>
            <a:r>
              <a:t>Faciliter la recherche et le filtrage</a:t>
            </a:r>
          </a:p>
        </p:txBody>
      </p:sp>
      <p:sp>
        <p:nvSpPr>
          <p:cNvPr id="28" name="TextBox 27"/>
          <p:cNvSpPr txBox="1"/>
          <p:nvPr/>
        </p:nvSpPr>
        <p:spPr>
          <a:xfrm>
            <a:off x="6583680" y="4754880"/>
            <a:ext cx="4754880" cy="914400"/>
          </a:xfrm>
          <a:prstGeom prst="rect">
            <a:avLst/>
          </a:prstGeom>
          <a:noFill/>
        </p:spPr>
        <p:txBody>
          <a:bodyPr wrap="square">
            <a:spAutoFit/>
          </a:bodyPr>
          <a:lstStyle/>
          <a:p>
            <a:pPr algn="l">
              <a:defRPr sz="1400" b="0">
                <a:solidFill>
                  <a:srgbClr val="C8DCF0"/>
                </a:solidFill>
                <a:latin typeface="Calibri"/>
              </a:defRPr>
            </a:pPr>
            <a:r>
              <a:t>Permettre une consultation rapide et ciblée des informations par critères multiples.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87552"/>
            <a:ext cx="12191695" cy="45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
            <a:ext cx="11277295" cy="640080"/>
          </a:xfrm>
          <a:prstGeom prst="rect">
            <a:avLst/>
          </a:prstGeom>
          <a:noFill/>
        </p:spPr>
        <p:txBody>
          <a:bodyPr wrap="square">
            <a:spAutoFit/>
          </a:bodyPr>
          <a:lstStyle/>
          <a:p>
            <a:pPr algn="l">
              <a:defRPr sz="3200" b="1">
                <a:solidFill>
                  <a:srgbClr val="FFFFFF"/>
                </a:solidFill>
                <a:latin typeface="Calibri"/>
              </a:defRPr>
            </a:pPr>
            <a:r>
              <a:t>Méthodologie : Agile Scrum</a:t>
            </a:r>
          </a:p>
        </p:txBody>
      </p:sp>
      <p:sp>
        <p:nvSpPr>
          <p:cNvPr id="5" name="Oval 4"/>
          <p:cNvSpPr/>
          <p:nvPr/>
        </p:nvSpPr>
        <p:spPr>
          <a:xfrm>
            <a:off x="10820095" y="731520"/>
            <a:ext cx="320040" cy="32004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05695" y="1645920"/>
            <a:ext cx="201168" cy="201168"/>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5212080"/>
            <a:ext cx="256032" cy="25603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28800" y="5943600"/>
            <a:ext cx="164592" cy="16459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1371600"/>
            <a:ext cx="10728655" cy="54864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463040"/>
            <a:ext cx="2286000" cy="457200"/>
          </a:xfrm>
          <a:prstGeom prst="rect">
            <a:avLst/>
          </a:prstGeom>
          <a:noFill/>
        </p:spPr>
        <p:txBody>
          <a:bodyPr wrap="square">
            <a:spAutoFit/>
          </a:bodyPr>
          <a:lstStyle/>
          <a:p>
            <a:pPr algn="ctr">
              <a:defRPr sz="1800" b="1">
                <a:solidFill>
                  <a:srgbClr val="FFFFFF"/>
                </a:solidFill>
                <a:latin typeface="Calibri"/>
              </a:defRPr>
            </a:pPr>
            <a:r>
              <a:t>Sprint</a:t>
            </a:r>
          </a:p>
        </p:txBody>
      </p:sp>
      <p:sp>
        <p:nvSpPr>
          <p:cNvPr id="11" name="TextBox 10"/>
          <p:cNvSpPr txBox="1"/>
          <p:nvPr/>
        </p:nvSpPr>
        <p:spPr>
          <a:xfrm>
            <a:off x="3017520" y="1463040"/>
            <a:ext cx="4114800" cy="457200"/>
          </a:xfrm>
          <a:prstGeom prst="rect">
            <a:avLst/>
          </a:prstGeom>
          <a:noFill/>
        </p:spPr>
        <p:txBody>
          <a:bodyPr wrap="square">
            <a:spAutoFit/>
          </a:bodyPr>
          <a:lstStyle/>
          <a:p>
            <a:pPr algn="ctr">
              <a:defRPr sz="1800" b="1">
                <a:solidFill>
                  <a:srgbClr val="FFFFFF"/>
                </a:solidFill>
                <a:latin typeface="Calibri"/>
              </a:defRPr>
            </a:pPr>
            <a:r>
              <a:t>Objectif</a:t>
            </a:r>
          </a:p>
        </p:txBody>
      </p:sp>
      <p:sp>
        <p:nvSpPr>
          <p:cNvPr id="12" name="TextBox 11"/>
          <p:cNvSpPr txBox="1"/>
          <p:nvPr/>
        </p:nvSpPr>
        <p:spPr>
          <a:xfrm>
            <a:off x="7132320" y="1463040"/>
            <a:ext cx="3657600" cy="457200"/>
          </a:xfrm>
          <a:prstGeom prst="rect">
            <a:avLst/>
          </a:prstGeom>
          <a:noFill/>
        </p:spPr>
        <p:txBody>
          <a:bodyPr wrap="square">
            <a:spAutoFit/>
          </a:bodyPr>
          <a:lstStyle/>
          <a:p>
            <a:pPr algn="ctr">
              <a:defRPr sz="1800" b="1">
                <a:solidFill>
                  <a:srgbClr val="FFFFFF"/>
                </a:solidFill>
                <a:latin typeface="Calibri"/>
              </a:defRPr>
            </a:pPr>
            <a:r>
              <a:t>Livrables</a:t>
            </a:r>
          </a:p>
        </p:txBody>
      </p:sp>
      <p:sp>
        <p:nvSpPr>
          <p:cNvPr id="13" name="Rectangle 12"/>
          <p:cNvSpPr/>
          <p:nvPr/>
        </p:nvSpPr>
        <p:spPr>
          <a:xfrm>
            <a:off x="731520" y="1920240"/>
            <a:ext cx="10728655" cy="822960"/>
          </a:xfrm>
          <a:prstGeom prst="rect">
            <a:avLst/>
          </a:prstGeom>
          <a:solidFill>
            <a:srgbClr val="002D5A"/>
          </a:solidFill>
          <a:ln w="12700">
            <a:solidFill>
              <a:srgbClr val="005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14400" y="2103120"/>
            <a:ext cx="1920240" cy="457200"/>
          </a:xfrm>
          <a:prstGeom prst="round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2148840"/>
            <a:ext cx="1920240" cy="365760"/>
          </a:xfrm>
          <a:prstGeom prst="rect">
            <a:avLst/>
          </a:prstGeom>
          <a:noFill/>
        </p:spPr>
        <p:txBody>
          <a:bodyPr wrap="square">
            <a:spAutoFit/>
          </a:bodyPr>
          <a:lstStyle/>
          <a:p>
            <a:pPr algn="ctr">
              <a:defRPr sz="1600" b="1">
                <a:solidFill>
                  <a:srgbClr val="FFFFFF"/>
                </a:solidFill>
                <a:latin typeface="Calibri"/>
              </a:defRPr>
            </a:pPr>
            <a:r>
              <a:t>Sprint 1</a:t>
            </a:r>
          </a:p>
        </p:txBody>
      </p:sp>
      <p:sp>
        <p:nvSpPr>
          <p:cNvPr id="16" name="TextBox 15"/>
          <p:cNvSpPr txBox="1"/>
          <p:nvPr/>
        </p:nvSpPr>
        <p:spPr>
          <a:xfrm>
            <a:off x="3017520" y="2057400"/>
            <a:ext cx="4114800" cy="548640"/>
          </a:xfrm>
          <a:prstGeom prst="rect">
            <a:avLst/>
          </a:prstGeom>
          <a:noFill/>
        </p:spPr>
        <p:txBody>
          <a:bodyPr wrap="square">
            <a:spAutoFit/>
          </a:bodyPr>
          <a:lstStyle/>
          <a:p>
            <a:pPr algn="l">
              <a:defRPr sz="1600" b="0">
                <a:solidFill>
                  <a:srgbClr val="FFFFFF"/>
                </a:solidFill>
                <a:latin typeface="Calibri"/>
              </a:defRPr>
            </a:pPr>
            <a:r>
              <a:t>Mise en place Django + modèles</a:t>
            </a:r>
          </a:p>
        </p:txBody>
      </p:sp>
      <p:sp>
        <p:nvSpPr>
          <p:cNvPr id="17" name="TextBox 16"/>
          <p:cNvSpPr txBox="1"/>
          <p:nvPr/>
        </p:nvSpPr>
        <p:spPr>
          <a:xfrm>
            <a:off x="7132320" y="2057400"/>
            <a:ext cx="3657600" cy="548640"/>
          </a:xfrm>
          <a:prstGeom prst="rect">
            <a:avLst/>
          </a:prstGeom>
          <a:noFill/>
        </p:spPr>
        <p:txBody>
          <a:bodyPr wrap="square">
            <a:spAutoFit/>
          </a:bodyPr>
          <a:lstStyle/>
          <a:p>
            <a:pPr algn="l">
              <a:defRPr sz="1400" b="0">
                <a:solidFill>
                  <a:srgbClr val="17A2B8"/>
                </a:solidFill>
                <a:latin typeface="Calibri"/>
              </a:defRPr>
            </a:pPr>
            <a:r>
              <a:t>Bassin, Espece</a:t>
            </a:r>
          </a:p>
        </p:txBody>
      </p:sp>
      <p:sp>
        <p:nvSpPr>
          <p:cNvPr id="18" name="Rectangle 17"/>
          <p:cNvSpPr/>
          <p:nvPr/>
        </p:nvSpPr>
        <p:spPr>
          <a:xfrm>
            <a:off x="731520" y="2743200"/>
            <a:ext cx="10728655" cy="822960"/>
          </a:xfrm>
          <a:prstGeom prst="rect">
            <a:avLst/>
          </a:prstGeom>
          <a:solidFill>
            <a:srgbClr val="00376E"/>
          </a:solidFill>
          <a:ln w="12700">
            <a:solidFill>
              <a:srgbClr val="005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14400" y="2926080"/>
            <a:ext cx="1920240" cy="457200"/>
          </a:xfrm>
          <a:prstGeom prst="roundRect">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2971800"/>
            <a:ext cx="1920240" cy="365760"/>
          </a:xfrm>
          <a:prstGeom prst="rect">
            <a:avLst/>
          </a:prstGeom>
          <a:noFill/>
        </p:spPr>
        <p:txBody>
          <a:bodyPr wrap="square">
            <a:spAutoFit/>
          </a:bodyPr>
          <a:lstStyle/>
          <a:p>
            <a:pPr algn="ctr">
              <a:defRPr sz="1600" b="1">
                <a:solidFill>
                  <a:srgbClr val="FFFFFF"/>
                </a:solidFill>
                <a:latin typeface="Calibri"/>
              </a:defRPr>
            </a:pPr>
            <a:r>
              <a:t>Sprint 2</a:t>
            </a:r>
          </a:p>
        </p:txBody>
      </p:sp>
      <p:sp>
        <p:nvSpPr>
          <p:cNvPr id="21" name="TextBox 20"/>
          <p:cNvSpPr txBox="1"/>
          <p:nvPr/>
        </p:nvSpPr>
        <p:spPr>
          <a:xfrm>
            <a:off x="3017520" y="2880360"/>
            <a:ext cx="4114800" cy="548640"/>
          </a:xfrm>
          <a:prstGeom prst="rect">
            <a:avLst/>
          </a:prstGeom>
          <a:noFill/>
        </p:spPr>
        <p:txBody>
          <a:bodyPr wrap="square">
            <a:spAutoFit/>
          </a:bodyPr>
          <a:lstStyle/>
          <a:p>
            <a:pPr algn="l">
              <a:defRPr sz="1600" b="0">
                <a:solidFill>
                  <a:srgbClr val="FFFFFF"/>
                </a:solidFill>
                <a:latin typeface="Calibri"/>
              </a:defRPr>
            </a:pPr>
            <a:r>
              <a:t>Interface d'administration Conservateur</a:t>
            </a:r>
          </a:p>
        </p:txBody>
      </p:sp>
      <p:sp>
        <p:nvSpPr>
          <p:cNvPr id="22" name="TextBox 21"/>
          <p:cNvSpPr txBox="1"/>
          <p:nvPr/>
        </p:nvSpPr>
        <p:spPr>
          <a:xfrm>
            <a:off x="7132320" y="2880360"/>
            <a:ext cx="3657600" cy="548640"/>
          </a:xfrm>
          <a:prstGeom prst="rect">
            <a:avLst/>
          </a:prstGeom>
          <a:noFill/>
        </p:spPr>
        <p:txBody>
          <a:bodyPr wrap="square">
            <a:spAutoFit/>
          </a:bodyPr>
          <a:lstStyle/>
          <a:p>
            <a:pPr algn="l">
              <a:defRPr sz="1400" b="0">
                <a:solidFill>
                  <a:srgbClr val="17A2B8"/>
                </a:solidFill>
                <a:latin typeface="Calibri"/>
              </a:defRPr>
            </a:pPr>
            <a:r>
              <a:t>/admin complète</a:t>
            </a:r>
          </a:p>
        </p:txBody>
      </p:sp>
      <p:sp>
        <p:nvSpPr>
          <p:cNvPr id="23" name="Rectangle 22"/>
          <p:cNvSpPr/>
          <p:nvPr/>
        </p:nvSpPr>
        <p:spPr>
          <a:xfrm>
            <a:off x="731520" y="3566160"/>
            <a:ext cx="10728655" cy="822960"/>
          </a:xfrm>
          <a:prstGeom prst="rect">
            <a:avLst/>
          </a:prstGeom>
          <a:solidFill>
            <a:srgbClr val="002D5A"/>
          </a:solidFill>
          <a:ln w="12700">
            <a:solidFill>
              <a:srgbClr val="005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14400" y="3749040"/>
            <a:ext cx="192024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3794760"/>
            <a:ext cx="1920240" cy="365760"/>
          </a:xfrm>
          <a:prstGeom prst="rect">
            <a:avLst/>
          </a:prstGeom>
          <a:noFill/>
        </p:spPr>
        <p:txBody>
          <a:bodyPr wrap="square">
            <a:spAutoFit/>
          </a:bodyPr>
          <a:lstStyle/>
          <a:p>
            <a:pPr algn="ctr">
              <a:defRPr sz="1600" b="1">
                <a:solidFill>
                  <a:srgbClr val="FFFFFF"/>
                </a:solidFill>
                <a:latin typeface="Calibri"/>
              </a:defRPr>
            </a:pPr>
            <a:r>
              <a:t>Sprint 3</a:t>
            </a:r>
          </a:p>
        </p:txBody>
      </p:sp>
      <p:sp>
        <p:nvSpPr>
          <p:cNvPr id="26" name="TextBox 25"/>
          <p:cNvSpPr txBox="1"/>
          <p:nvPr/>
        </p:nvSpPr>
        <p:spPr>
          <a:xfrm>
            <a:off x="3017520" y="3703320"/>
            <a:ext cx="4114800" cy="548640"/>
          </a:xfrm>
          <a:prstGeom prst="rect">
            <a:avLst/>
          </a:prstGeom>
          <a:noFill/>
        </p:spPr>
        <p:txBody>
          <a:bodyPr wrap="square">
            <a:spAutoFit/>
          </a:bodyPr>
          <a:lstStyle/>
          <a:p>
            <a:pPr algn="l">
              <a:defRPr sz="1600" b="0">
                <a:solidFill>
                  <a:srgbClr val="FFFFFF"/>
                </a:solidFill>
                <a:latin typeface="Calibri"/>
              </a:defRPr>
            </a:pPr>
            <a:r>
              <a:t>Vues publiques / soigneurs</a:t>
            </a:r>
          </a:p>
        </p:txBody>
      </p:sp>
      <p:sp>
        <p:nvSpPr>
          <p:cNvPr id="27" name="TextBox 26"/>
          <p:cNvSpPr txBox="1"/>
          <p:nvPr/>
        </p:nvSpPr>
        <p:spPr>
          <a:xfrm>
            <a:off x="7132320" y="3703320"/>
            <a:ext cx="3657600" cy="548640"/>
          </a:xfrm>
          <a:prstGeom prst="rect">
            <a:avLst/>
          </a:prstGeom>
          <a:noFill/>
        </p:spPr>
        <p:txBody>
          <a:bodyPr wrap="square">
            <a:spAutoFit/>
          </a:bodyPr>
          <a:lstStyle/>
          <a:p>
            <a:pPr algn="l">
              <a:defRPr sz="1400" b="0">
                <a:solidFill>
                  <a:srgbClr val="17A2B8"/>
                </a:solidFill>
                <a:latin typeface="Calibri"/>
              </a:defRPr>
            </a:pPr>
            <a:r>
              <a:t>Bootstrap + charte Marine</a:t>
            </a:r>
          </a:p>
        </p:txBody>
      </p:sp>
      <p:sp>
        <p:nvSpPr>
          <p:cNvPr id="28" name="Rectangle 27"/>
          <p:cNvSpPr/>
          <p:nvPr/>
        </p:nvSpPr>
        <p:spPr>
          <a:xfrm>
            <a:off x="731520" y="4389120"/>
            <a:ext cx="10728655" cy="822960"/>
          </a:xfrm>
          <a:prstGeom prst="rect">
            <a:avLst/>
          </a:prstGeom>
          <a:solidFill>
            <a:srgbClr val="00376E"/>
          </a:solidFill>
          <a:ln w="12700">
            <a:solidFill>
              <a:srgbClr val="005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14400" y="4572000"/>
            <a:ext cx="1920240" cy="457200"/>
          </a:xfrm>
          <a:prstGeom prst="round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4617720"/>
            <a:ext cx="1920240" cy="365760"/>
          </a:xfrm>
          <a:prstGeom prst="rect">
            <a:avLst/>
          </a:prstGeom>
          <a:noFill/>
        </p:spPr>
        <p:txBody>
          <a:bodyPr wrap="square">
            <a:spAutoFit/>
          </a:bodyPr>
          <a:lstStyle/>
          <a:p>
            <a:pPr algn="ctr">
              <a:defRPr sz="1600" b="1">
                <a:solidFill>
                  <a:srgbClr val="FFFFFF"/>
                </a:solidFill>
                <a:latin typeface="Calibri"/>
              </a:defRPr>
            </a:pPr>
            <a:r>
              <a:t>Sprint 4</a:t>
            </a:r>
          </a:p>
        </p:txBody>
      </p:sp>
      <p:sp>
        <p:nvSpPr>
          <p:cNvPr id="31" name="TextBox 30"/>
          <p:cNvSpPr txBox="1"/>
          <p:nvPr/>
        </p:nvSpPr>
        <p:spPr>
          <a:xfrm>
            <a:off x="3017520" y="4526280"/>
            <a:ext cx="4114800" cy="548640"/>
          </a:xfrm>
          <a:prstGeom prst="rect">
            <a:avLst/>
          </a:prstGeom>
          <a:noFill/>
        </p:spPr>
        <p:txBody>
          <a:bodyPr wrap="square">
            <a:spAutoFit/>
          </a:bodyPr>
          <a:lstStyle/>
          <a:p>
            <a:pPr algn="l">
              <a:defRPr sz="1600" b="0">
                <a:solidFill>
                  <a:srgbClr val="FFFFFF"/>
                </a:solidFill>
                <a:latin typeface="Calibri"/>
              </a:defRPr>
            </a:pPr>
            <a:r>
              <a:t>Recherche, filtrage &amp; finalisation</a:t>
            </a:r>
          </a:p>
        </p:txBody>
      </p:sp>
      <p:sp>
        <p:nvSpPr>
          <p:cNvPr id="32" name="TextBox 31"/>
          <p:cNvSpPr txBox="1"/>
          <p:nvPr/>
        </p:nvSpPr>
        <p:spPr>
          <a:xfrm>
            <a:off x="7132320" y="4526280"/>
            <a:ext cx="3657600" cy="548640"/>
          </a:xfrm>
          <a:prstGeom prst="rect">
            <a:avLst/>
          </a:prstGeom>
          <a:noFill/>
        </p:spPr>
        <p:txBody>
          <a:bodyPr wrap="square">
            <a:spAutoFit/>
          </a:bodyPr>
          <a:lstStyle/>
          <a:p>
            <a:pPr algn="l">
              <a:defRPr sz="1400" b="0">
                <a:solidFill>
                  <a:srgbClr val="17A2B8"/>
                </a:solidFill>
                <a:latin typeface="Calibri"/>
              </a:defRPr>
            </a:pPr>
            <a:r>
              <a:t>Fonctionnalités avancées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87552"/>
            <a:ext cx="12191695" cy="45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
            <a:ext cx="11277295" cy="640080"/>
          </a:xfrm>
          <a:prstGeom prst="rect">
            <a:avLst/>
          </a:prstGeom>
          <a:noFill/>
        </p:spPr>
        <p:txBody>
          <a:bodyPr wrap="square">
            <a:spAutoFit/>
          </a:bodyPr>
          <a:lstStyle/>
          <a:p>
            <a:pPr algn="l">
              <a:defRPr sz="3200" b="1">
                <a:solidFill>
                  <a:srgbClr val="FFFFFF"/>
                </a:solidFill>
                <a:latin typeface="Calibri"/>
              </a:defRPr>
            </a:pPr>
            <a:r>
              <a:t>Acteurs &amp; Besoins Fonctionnels</a:t>
            </a:r>
          </a:p>
        </p:txBody>
      </p:sp>
      <p:sp>
        <p:nvSpPr>
          <p:cNvPr id="5" name="Oval 4"/>
          <p:cNvSpPr/>
          <p:nvPr/>
        </p:nvSpPr>
        <p:spPr>
          <a:xfrm>
            <a:off x="10820095" y="731520"/>
            <a:ext cx="320040" cy="32004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05695" y="1645920"/>
            <a:ext cx="201168" cy="201168"/>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5212080"/>
            <a:ext cx="256032" cy="25603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28800" y="5943600"/>
            <a:ext cx="164592" cy="16459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371600"/>
            <a:ext cx="5029200" cy="457200"/>
          </a:xfrm>
          <a:prstGeom prst="round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99032"/>
            <a:ext cx="5029200" cy="457200"/>
          </a:xfrm>
          <a:prstGeom prst="rect">
            <a:avLst/>
          </a:prstGeom>
          <a:noFill/>
        </p:spPr>
        <p:txBody>
          <a:bodyPr wrap="square">
            <a:spAutoFit/>
          </a:bodyPr>
          <a:lstStyle/>
          <a:p>
            <a:pPr algn="ctr">
              <a:defRPr sz="1800" b="1">
                <a:solidFill>
                  <a:srgbClr val="FFFFFF"/>
                </a:solidFill>
                <a:latin typeface="Calibri"/>
              </a:defRPr>
            </a:pPr>
            <a:r>
              <a:t>👥 Acteurs du système</a:t>
            </a:r>
          </a:p>
        </p:txBody>
      </p:sp>
      <p:sp>
        <p:nvSpPr>
          <p:cNvPr id="11" name="Rounded Rectangle 10"/>
          <p:cNvSpPr/>
          <p:nvPr/>
        </p:nvSpPr>
        <p:spPr>
          <a:xfrm>
            <a:off x="731520" y="2011680"/>
            <a:ext cx="5029200" cy="868680"/>
          </a:xfrm>
          <a:prstGeom prst="roundRect">
            <a:avLst/>
          </a:prstGeom>
          <a:solidFill>
            <a:srgbClr val="003264"/>
          </a:solidFill>
          <a:ln w="25400">
            <a:solidFill>
              <a:srgbClr val="007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103120"/>
            <a:ext cx="4663440" cy="320040"/>
          </a:xfrm>
          <a:prstGeom prst="rect">
            <a:avLst/>
          </a:prstGeom>
          <a:noFill/>
        </p:spPr>
        <p:txBody>
          <a:bodyPr wrap="square">
            <a:spAutoFit/>
          </a:bodyPr>
          <a:lstStyle/>
          <a:p>
            <a:pPr algn="l">
              <a:defRPr sz="1600" b="1">
                <a:solidFill>
                  <a:srgbClr val="FFFFFF"/>
                </a:solidFill>
                <a:latin typeface="Calibri"/>
              </a:defRPr>
            </a:pPr>
            <a:r>
              <a:t>🛡️ Conservateur (Admin)</a:t>
            </a:r>
          </a:p>
        </p:txBody>
      </p:sp>
      <p:sp>
        <p:nvSpPr>
          <p:cNvPr id="13" name="TextBox 12"/>
          <p:cNvSpPr txBox="1"/>
          <p:nvPr/>
        </p:nvSpPr>
        <p:spPr>
          <a:xfrm>
            <a:off x="914400" y="2423160"/>
            <a:ext cx="4663440" cy="365760"/>
          </a:xfrm>
          <a:prstGeom prst="rect">
            <a:avLst/>
          </a:prstGeom>
          <a:noFill/>
        </p:spPr>
        <p:txBody>
          <a:bodyPr wrap="square">
            <a:spAutoFit/>
          </a:bodyPr>
          <a:lstStyle/>
          <a:p>
            <a:pPr algn="l">
              <a:defRPr sz="1300" b="0">
                <a:solidFill>
                  <a:srgbClr val="C8DCF0"/>
                </a:solidFill>
                <a:latin typeface="Calibri"/>
              </a:defRPr>
            </a:pPr>
            <a:r>
              <a:t>Accès complet via /admin, gestion des bassins et alertes</a:t>
            </a:r>
          </a:p>
        </p:txBody>
      </p:sp>
      <p:sp>
        <p:nvSpPr>
          <p:cNvPr id="14" name="Rounded Rectangle 13"/>
          <p:cNvSpPr/>
          <p:nvPr/>
        </p:nvSpPr>
        <p:spPr>
          <a:xfrm>
            <a:off x="731520" y="3017520"/>
            <a:ext cx="5029200" cy="868680"/>
          </a:xfrm>
          <a:prstGeom prst="roundRect">
            <a:avLst/>
          </a:prstGeom>
          <a:solidFill>
            <a:srgbClr val="003264"/>
          </a:solidFill>
          <a:ln w="25400">
            <a:solidFill>
              <a:srgbClr val="17A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108960"/>
            <a:ext cx="4663440" cy="320040"/>
          </a:xfrm>
          <a:prstGeom prst="rect">
            <a:avLst/>
          </a:prstGeom>
          <a:noFill/>
        </p:spPr>
        <p:txBody>
          <a:bodyPr wrap="square">
            <a:spAutoFit/>
          </a:bodyPr>
          <a:lstStyle/>
          <a:p>
            <a:pPr algn="l">
              <a:defRPr sz="1600" b="1">
                <a:solidFill>
                  <a:srgbClr val="FFFFFF"/>
                </a:solidFill>
                <a:latin typeface="Calibri"/>
              </a:defRPr>
            </a:pPr>
            <a:r>
              <a:t>🔬 Biologiste / Soigneur</a:t>
            </a:r>
          </a:p>
        </p:txBody>
      </p:sp>
      <p:sp>
        <p:nvSpPr>
          <p:cNvPr id="16" name="TextBox 15"/>
          <p:cNvSpPr txBox="1"/>
          <p:nvPr/>
        </p:nvSpPr>
        <p:spPr>
          <a:xfrm>
            <a:off x="914400" y="3429000"/>
            <a:ext cx="4663440" cy="365760"/>
          </a:xfrm>
          <a:prstGeom prst="rect">
            <a:avLst/>
          </a:prstGeom>
          <a:noFill/>
        </p:spPr>
        <p:txBody>
          <a:bodyPr wrap="square">
            <a:spAutoFit/>
          </a:bodyPr>
          <a:lstStyle/>
          <a:p>
            <a:pPr algn="l">
              <a:defRPr sz="1300" b="0">
                <a:solidFill>
                  <a:srgbClr val="C8DCF0"/>
                </a:solidFill>
                <a:latin typeface="Calibri"/>
              </a:defRPr>
            </a:pPr>
            <a:r>
              <a:t>Interface publique, consultation et mise à jour</a:t>
            </a:r>
          </a:p>
        </p:txBody>
      </p:sp>
      <p:sp>
        <p:nvSpPr>
          <p:cNvPr id="17" name="Rounded Rectangle 16"/>
          <p:cNvSpPr/>
          <p:nvPr/>
        </p:nvSpPr>
        <p:spPr>
          <a:xfrm>
            <a:off x="6400800" y="1371600"/>
            <a:ext cx="50292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1399032"/>
            <a:ext cx="5029200" cy="457200"/>
          </a:xfrm>
          <a:prstGeom prst="rect">
            <a:avLst/>
          </a:prstGeom>
          <a:noFill/>
        </p:spPr>
        <p:txBody>
          <a:bodyPr wrap="square">
            <a:spAutoFit/>
          </a:bodyPr>
          <a:lstStyle/>
          <a:p>
            <a:pPr algn="ctr">
              <a:defRPr sz="1800" b="1">
                <a:solidFill>
                  <a:srgbClr val="FFFFFF"/>
                </a:solidFill>
                <a:latin typeface="Calibri"/>
              </a:defRPr>
            </a:pPr>
            <a:r>
              <a:t>⚙️ Fonctionnalités principales</a:t>
            </a:r>
          </a:p>
        </p:txBody>
      </p:sp>
      <p:sp>
        <p:nvSpPr>
          <p:cNvPr id="19" name="Oval 18"/>
          <p:cNvSpPr/>
          <p:nvPr/>
        </p:nvSpPr>
        <p:spPr>
          <a:xfrm>
            <a:off x="6583680" y="2121408"/>
            <a:ext cx="137160" cy="13716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0" y="2011680"/>
            <a:ext cx="4389120" cy="457200"/>
          </a:xfrm>
          <a:prstGeom prst="rect">
            <a:avLst/>
          </a:prstGeom>
          <a:noFill/>
        </p:spPr>
        <p:txBody>
          <a:bodyPr wrap="square">
            <a:spAutoFit/>
          </a:bodyPr>
          <a:lstStyle/>
          <a:p>
            <a:pPr algn="l">
              <a:defRPr sz="1400" b="0">
                <a:solidFill>
                  <a:srgbClr val="FFFFFF"/>
                </a:solidFill>
                <a:latin typeface="Calibri"/>
              </a:defRPr>
            </a:pPr>
            <a:r>
              <a:t>📋 Inventaire des espèces (nom commun, scientifique, famille, statut)</a:t>
            </a:r>
          </a:p>
        </p:txBody>
      </p:sp>
      <p:sp>
        <p:nvSpPr>
          <p:cNvPr id="21" name="Oval 20"/>
          <p:cNvSpPr/>
          <p:nvPr/>
        </p:nvSpPr>
        <p:spPr>
          <a:xfrm>
            <a:off x="6583680" y="2807208"/>
            <a:ext cx="137160" cy="13716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0" y="2697480"/>
            <a:ext cx="4389120" cy="457200"/>
          </a:xfrm>
          <a:prstGeom prst="rect">
            <a:avLst/>
          </a:prstGeom>
          <a:noFill/>
        </p:spPr>
        <p:txBody>
          <a:bodyPr wrap="square">
            <a:spAutoFit/>
          </a:bodyPr>
          <a:lstStyle/>
          <a:p>
            <a:pPr algn="l">
              <a:defRPr sz="1400" b="0">
                <a:solidFill>
                  <a:srgbClr val="FFFFFF"/>
                </a:solidFill>
                <a:latin typeface="Calibri"/>
              </a:defRPr>
            </a:pPr>
            <a:r>
              <a:t>🪣 Gestion des bassins (type d'eau, volume, température, pH)</a:t>
            </a:r>
          </a:p>
        </p:txBody>
      </p:sp>
      <p:sp>
        <p:nvSpPr>
          <p:cNvPr id="23" name="Oval 22"/>
          <p:cNvSpPr/>
          <p:nvPr/>
        </p:nvSpPr>
        <p:spPr>
          <a:xfrm>
            <a:off x="6583680" y="3493008"/>
            <a:ext cx="137160" cy="13716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0" y="3383280"/>
            <a:ext cx="4389120" cy="457200"/>
          </a:xfrm>
          <a:prstGeom prst="rect">
            <a:avLst/>
          </a:prstGeom>
          <a:noFill/>
        </p:spPr>
        <p:txBody>
          <a:bodyPr wrap="square">
            <a:spAutoFit/>
          </a:bodyPr>
          <a:lstStyle/>
          <a:p>
            <a:pPr algn="l">
              <a:defRPr sz="1400" b="0">
                <a:solidFill>
                  <a:srgbClr val="FFFFFF"/>
                </a:solidFill>
                <a:latin typeface="Calibri"/>
              </a:defRPr>
            </a:pPr>
            <a:r>
              <a:t>🌡️ Paramètres de survie (température idéale, pH requis, date mesure)</a:t>
            </a:r>
          </a:p>
        </p:txBody>
      </p:sp>
      <p:sp>
        <p:nvSpPr>
          <p:cNvPr id="25" name="Oval 24"/>
          <p:cNvSpPr/>
          <p:nvPr/>
        </p:nvSpPr>
        <p:spPr>
          <a:xfrm>
            <a:off x="6583680" y="4178808"/>
            <a:ext cx="137160" cy="13716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58000" y="4069080"/>
            <a:ext cx="4389120" cy="457200"/>
          </a:xfrm>
          <a:prstGeom prst="rect">
            <a:avLst/>
          </a:prstGeom>
          <a:noFill/>
        </p:spPr>
        <p:txBody>
          <a:bodyPr wrap="square">
            <a:spAutoFit/>
          </a:bodyPr>
          <a:lstStyle/>
          <a:p>
            <a:pPr algn="l">
              <a:defRPr sz="1400" b="0">
                <a:solidFill>
                  <a:srgbClr val="FFFFFF"/>
                </a:solidFill>
                <a:latin typeface="Calibri"/>
              </a:defRPr>
            </a:pPr>
            <a:r>
              <a:t>🔍 Recherche &amp; Filtrage multi-critères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87552"/>
            <a:ext cx="12191695" cy="45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
            <a:ext cx="11277295" cy="640080"/>
          </a:xfrm>
          <a:prstGeom prst="rect">
            <a:avLst/>
          </a:prstGeom>
          <a:noFill/>
        </p:spPr>
        <p:txBody>
          <a:bodyPr wrap="square">
            <a:spAutoFit/>
          </a:bodyPr>
          <a:lstStyle/>
          <a:p>
            <a:pPr algn="l">
              <a:defRPr sz="3200" b="1">
                <a:solidFill>
                  <a:srgbClr val="FFFFFF"/>
                </a:solidFill>
                <a:latin typeface="Calibri"/>
              </a:defRPr>
            </a:pPr>
            <a:r>
              <a:t>Diagramme des cas d'utilisation</a:t>
            </a:r>
          </a:p>
        </p:txBody>
      </p:sp>
      <p:sp>
        <p:nvSpPr>
          <p:cNvPr id="5" name="Oval 4"/>
          <p:cNvSpPr/>
          <p:nvPr/>
        </p:nvSpPr>
        <p:spPr>
          <a:xfrm>
            <a:off x="10820095" y="731520"/>
            <a:ext cx="320040" cy="32004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05695" y="1645920"/>
            <a:ext cx="201168" cy="201168"/>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5212080"/>
            <a:ext cx="256032" cy="25603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28800" y="5943600"/>
            <a:ext cx="164592" cy="16459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280160"/>
            <a:ext cx="10728655" cy="548640"/>
          </a:xfrm>
          <a:prstGeom prst="rect">
            <a:avLst/>
          </a:prstGeom>
          <a:noFill/>
        </p:spPr>
        <p:txBody>
          <a:bodyPr wrap="square">
            <a:spAutoFit/>
          </a:bodyPr>
          <a:lstStyle/>
          <a:p>
            <a:pPr algn="ctr">
              <a:defRPr sz="1600" b="0">
                <a:solidFill>
                  <a:srgbClr val="C8DCF0"/>
                </a:solidFill>
                <a:latin typeface="Calibri"/>
              </a:defRPr>
            </a:pPr>
            <a:r>
              <a:t>Deux acteurs interagissent avec le système : le Conservateur (Admin) dispose d'un accès complet via /admin, tandis que le Biologiste/Soigneur utilise l'interface publique pour consulter et mettre à jour l'inventaire.</a:t>
            </a:r>
          </a:p>
        </p:txBody>
      </p:sp>
      <p:sp>
        <p:nvSpPr>
          <p:cNvPr id="10" name="Rounded Rectangle 9"/>
          <p:cNvSpPr/>
          <p:nvPr/>
        </p:nvSpPr>
        <p:spPr>
          <a:xfrm>
            <a:off x="3200400" y="2011680"/>
            <a:ext cx="5760720" cy="4114800"/>
          </a:xfrm>
          <a:prstGeom prst="roundRect">
            <a:avLst/>
          </a:prstGeom>
          <a:solidFill>
            <a:srgbClr val="002850"/>
          </a:solidFill>
          <a:ln w="38100">
            <a:solidFill>
              <a:srgbClr val="007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0" y="2103120"/>
            <a:ext cx="5760720" cy="365760"/>
          </a:xfrm>
          <a:prstGeom prst="rect">
            <a:avLst/>
          </a:prstGeom>
          <a:noFill/>
        </p:spPr>
        <p:txBody>
          <a:bodyPr wrap="square">
            <a:spAutoFit/>
          </a:bodyPr>
          <a:lstStyle/>
          <a:p>
            <a:pPr algn="ctr">
              <a:defRPr sz="1600" b="1">
                <a:solidFill>
                  <a:srgbClr val="17A2B8"/>
                </a:solidFill>
                <a:latin typeface="Calibri"/>
              </a:defRPr>
            </a:pPr>
            <a:r>
              <a:t>Système AquaLife</a:t>
            </a:r>
          </a:p>
        </p:txBody>
      </p:sp>
      <p:sp>
        <p:nvSpPr>
          <p:cNvPr id="12" name="Rounded Rectangle 11"/>
          <p:cNvSpPr/>
          <p:nvPr/>
        </p:nvSpPr>
        <p:spPr>
          <a:xfrm>
            <a:off x="3657600" y="2651760"/>
            <a:ext cx="2286000" cy="502920"/>
          </a:xfrm>
          <a:prstGeom prst="round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0" y="2724912"/>
            <a:ext cx="2286000" cy="365760"/>
          </a:xfrm>
          <a:prstGeom prst="rect">
            <a:avLst/>
          </a:prstGeom>
          <a:noFill/>
        </p:spPr>
        <p:txBody>
          <a:bodyPr wrap="square">
            <a:spAutoFit/>
          </a:bodyPr>
          <a:lstStyle/>
          <a:p>
            <a:pPr algn="ctr">
              <a:defRPr sz="1300" b="1">
                <a:solidFill>
                  <a:srgbClr val="FFFFFF"/>
                </a:solidFill>
                <a:latin typeface="Calibri"/>
              </a:defRPr>
            </a:pPr>
            <a:r>
              <a:t>Gérer les bassins</a:t>
            </a:r>
          </a:p>
        </p:txBody>
      </p:sp>
      <p:sp>
        <p:nvSpPr>
          <p:cNvPr id="14" name="Rounded Rectangle 13"/>
          <p:cNvSpPr/>
          <p:nvPr/>
        </p:nvSpPr>
        <p:spPr>
          <a:xfrm>
            <a:off x="3657600" y="3291840"/>
            <a:ext cx="2286000" cy="502920"/>
          </a:xfrm>
          <a:prstGeom prst="round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0" y="3364992"/>
            <a:ext cx="2286000" cy="365760"/>
          </a:xfrm>
          <a:prstGeom prst="rect">
            <a:avLst/>
          </a:prstGeom>
          <a:noFill/>
        </p:spPr>
        <p:txBody>
          <a:bodyPr wrap="square">
            <a:spAutoFit/>
          </a:bodyPr>
          <a:lstStyle/>
          <a:p>
            <a:pPr algn="ctr">
              <a:defRPr sz="1300" b="1">
                <a:solidFill>
                  <a:srgbClr val="FFFFFF"/>
                </a:solidFill>
                <a:latin typeface="Calibri"/>
              </a:defRPr>
            </a:pPr>
            <a:r>
              <a:t>Gérer les espèces</a:t>
            </a:r>
          </a:p>
        </p:txBody>
      </p:sp>
      <p:sp>
        <p:nvSpPr>
          <p:cNvPr id="16" name="Rounded Rectangle 15"/>
          <p:cNvSpPr/>
          <p:nvPr/>
        </p:nvSpPr>
        <p:spPr>
          <a:xfrm>
            <a:off x="3657600" y="3931920"/>
            <a:ext cx="2286000" cy="502920"/>
          </a:xfrm>
          <a:prstGeom prst="round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0" y="4005072"/>
            <a:ext cx="2286000" cy="365760"/>
          </a:xfrm>
          <a:prstGeom prst="rect">
            <a:avLst/>
          </a:prstGeom>
          <a:noFill/>
        </p:spPr>
        <p:txBody>
          <a:bodyPr wrap="square">
            <a:spAutoFit/>
          </a:bodyPr>
          <a:lstStyle/>
          <a:p>
            <a:pPr algn="ctr">
              <a:defRPr sz="1300" b="1">
                <a:solidFill>
                  <a:srgbClr val="FFFFFF"/>
                </a:solidFill>
                <a:latin typeface="Calibri"/>
              </a:defRPr>
            </a:pPr>
            <a:r>
              <a:t>Surveiller paramètres</a:t>
            </a:r>
          </a:p>
        </p:txBody>
      </p:sp>
      <p:sp>
        <p:nvSpPr>
          <p:cNvPr id="18" name="Rounded Rectangle 17"/>
          <p:cNvSpPr/>
          <p:nvPr/>
        </p:nvSpPr>
        <p:spPr>
          <a:xfrm>
            <a:off x="3657600" y="4572000"/>
            <a:ext cx="2286000" cy="502920"/>
          </a:xfrm>
          <a:prstGeom prst="round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0" y="4645152"/>
            <a:ext cx="2286000" cy="365760"/>
          </a:xfrm>
          <a:prstGeom prst="rect">
            <a:avLst/>
          </a:prstGeom>
          <a:noFill/>
        </p:spPr>
        <p:txBody>
          <a:bodyPr wrap="square">
            <a:spAutoFit/>
          </a:bodyPr>
          <a:lstStyle/>
          <a:p>
            <a:pPr algn="ctr">
              <a:defRPr sz="1300" b="1">
                <a:solidFill>
                  <a:srgbClr val="FFFFFF"/>
                </a:solidFill>
                <a:latin typeface="Calibri"/>
              </a:defRPr>
            </a:pPr>
            <a:r>
              <a:t>Rechercher / Filtrer</a:t>
            </a:r>
          </a:p>
        </p:txBody>
      </p:sp>
      <p:sp>
        <p:nvSpPr>
          <p:cNvPr id="20" name="Rounded Rectangle 19"/>
          <p:cNvSpPr/>
          <p:nvPr/>
        </p:nvSpPr>
        <p:spPr>
          <a:xfrm>
            <a:off x="6858000" y="2971800"/>
            <a:ext cx="2286000" cy="502920"/>
          </a:xfrm>
          <a:prstGeom prst="round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0" y="3044952"/>
            <a:ext cx="2286000" cy="365760"/>
          </a:xfrm>
          <a:prstGeom prst="rect">
            <a:avLst/>
          </a:prstGeom>
          <a:noFill/>
        </p:spPr>
        <p:txBody>
          <a:bodyPr wrap="square">
            <a:spAutoFit/>
          </a:bodyPr>
          <a:lstStyle/>
          <a:p>
            <a:pPr algn="ctr">
              <a:defRPr sz="1300" b="1">
                <a:solidFill>
                  <a:srgbClr val="FFFFFF"/>
                </a:solidFill>
                <a:latin typeface="Calibri"/>
              </a:defRPr>
            </a:pPr>
            <a:r>
              <a:t>Interface /admin</a:t>
            </a:r>
          </a:p>
        </p:txBody>
      </p:sp>
      <p:sp>
        <p:nvSpPr>
          <p:cNvPr id="22" name="Rounded Rectangle 21"/>
          <p:cNvSpPr/>
          <p:nvPr/>
        </p:nvSpPr>
        <p:spPr>
          <a:xfrm>
            <a:off x="6858000" y="4160520"/>
            <a:ext cx="2286000" cy="502920"/>
          </a:xfrm>
          <a:prstGeom prst="round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0" y="4233672"/>
            <a:ext cx="2286000" cy="365760"/>
          </a:xfrm>
          <a:prstGeom prst="rect">
            <a:avLst/>
          </a:prstGeom>
          <a:noFill/>
        </p:spPr>
        <p:txBody>
          <a:bodyPr wrap="square">
            <a:spAutoFit/>
          </a:bodyPr>
          <a:lstStyle/>
          <a:p>
            <a:pPr algn="ctr">
              <a:defRPr sz="1300" b="1">
                <a:solidFill>
                  <a:srgbClr val="FFFFFF"/>
                </a:solidFill>
                <a:latin typeface="Calibri"/>
              </a:defRPr>
            </a:pPr>
            <a:r>
              <a:t>Interface publique</a:t>
            </a:r>
          </a:p>
        </p:txBody>
      </p:sp>
      <p:sp>
        <p:nvSpPr>
          <p:cNvPr id="24" name="Rounded Rectangle 23"/>
          <p:cNvSpPr/>
          <p:nvPr/>
        </p:nvSpPr>
        <p:spPr>
          <a:xfrm>
            <a:off x="9576832" y="2917577"/>
            <a:ext cx="2011680" cy="548640"/>
          </a:xfrm>
          <a:prstGeom prst="roundRect">
            <a:avLst/>
          </a:prstGeom>
          <a:solidFill>
            <a:srgbClr val="8B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64040" y="2992815"/>
            <a:ext cx="2011680" cy="457200"/>
          </a:xfrm>
          <a:prstGeom prst="rect">
            <a:avLst/>
          </a:prstGeom>
          <a:noFill/>
        </p:spPr>
        <p:txBody>
          <a:bodyPr wrap="square">
            <a:spAutoFit/>
          </a:bodyPr>
          <a:lstStyle/>
          <a:p>
            <a:pPr algn="ctr">
              <a:defRPr sz="1400" b="1">
                <a:solidFill>
                  <a:srgbClr val="FFFFFF"/>
                </a:solidFill>
                <a:latin typeface="Calibri"/>
              </a:defRPr>
            </a:pPr>
            <a:r>
              <a:t>🛡️ Conservateur</a:t>
            </a:r>
          </a:p>
        </p:txBody>
      </p:sp>
      <p:sp>
        <p:nvSpPr>
          <p:cNvPr id="26" name="Rounded Rectangle 25"/>
          <p:cNvSpPr/>
          <p:nvPr/>
        </p:nvSpPr>
        <p:spPr>
          <a:xfrm>
            <a:off x="9601200" y="4078625"/>
            <a:ext cx="2011680" cy="5486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76832" y="4160680"/>
            <a:ext cx="2011680" cy="457200"/>
          </a:xfrm>
          <a:prstGeom prst="rect">
            <a:avLst/>
          </a:prstGeom>
          <a:noFill/>
        </p:spPr>
        <p:txBody>
          <a:bodyPr wrap="square">
            <a:spAutoFit/>
          </a:bodyPr>
          <a:lstStyle/>
          <a:p>
            <a:pPr algn="ctr">
              <a:defRPr sz="1400" b="1">
                <a:solidFill>
                  <a:srgbClr val="FFFFFF"/>
                </a:solidFill>
                <a:latin typeface="Calibri"/>
              </a:defRPr>
            </a:pPr>
            <a:r>
              <a:rPr dirty="0"/>
              <a:t>🔬 </a:t>
            </a:r>
            <a:r>
              <a:rPr dirty="0" err="1"/>
              <a:t>Biologiste</a:t>
            </a:r>
            <a:endParaRPr dirty="0"/>
          </a:p>
        </p:txBody>
      </p:sp>
      <p:sp>
        <p:nvSpPr>
          <p:cNvPr id="28" name="Rectangle 27"/>
          <p:cNvSpPr/>
          <p:nvPr/>
        </p:nvSpPr>
        <p:spPr>
          <a:xfrm>
            <a:off x="9159087" y="3168476"/>
            <a:ext cx="457200" cy="27432"/>
          </a:xfrm>
          <a:prstGeom prst="rect">
            <a:avLst/>
          </a:prstGeom>
          <a:solidFill>
            <a:srgbClr val="8B5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079831" y="4293509"/>
            <a:ext cx="615712" cy="45719"/>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31520" y="5486400"/>
            <a:ext cx="4572000" cy="548640"/>
          </a:xfrm>
          <a:prstGeom prst="roundRect">
            <a:avLst/>
          </a:prstGeom>
          <a:solidFill>
            <a:srgbClr val="003264"/>
          </a:solidFill>
          <a:ln w="12700">
            <a:solidFill>
              <a:srgbClr val="17A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5577840"/>
            <a:ext cx="4572000" cy="457200"/>
          </a:xfrm>
          <a:prstGeom prst="rect">
            <a:avLst/>
          </a:prstGeom>
          <a:noFill/>
        </p:spPr>
        <p:txBody>
          <a:bodyPr wrap="square">
            <a:spAutoFit/>
          </a:bodyPr>
          <a:lstStyle/>
          <a:p>
            <a:pPr algn="ctr">
              <a:defRPr sz="1200" b="0">
                <a:solidFill>
                  <a:srgbClr val="17A2B8"/>
                </a:solidFill>
                <a:latin typeface="Calibri"/>
              </a:defRPr>
            </a:pPr>
            <a:r>
              <a:t>→ : Association acteur ↔ cas d'utilisation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87552"/>
            <a:ext cx="12191695" cy="45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
            <a:ext cx="11277295" cy="640080"/>
          </a:xfrm>
          <a:prstGeom prst="rect">
            <a:avLst/>
          </a:prstGeom>
          <a:noFill/>
        </p:spPr>
        <p:txBody>
          <a:bodyPr wrap="square">
            <a:spAutoFit/>
          </a:bodyPr>
          <a:lstStyle/>
          <a:p>
            <a:pPr algn="l">
              <a:defRPr sz="3200" b="1">
                <a:solidFill>
                  <a:srgbClr val="FFFFFF"/>
                </a:solidFill>
                <a:latin typeface="Calibri"/>
              </a:defRPr>
            </a:pPr>
            <a:r>
              <a:t>Architecture des données — Modèle de classes</a:t>
            </a:r>
          </a:p>
        </p:txBody>
      </p:sp>
      <p:sp>
        <p:nvSpPr>
          <p:cNvPr id="5" name="Oval 4"/>
          <p:cNvSpPr/>
          <p:nvPr/>
        </p:nvSpPr>
        <p:spPr>
          <a:xfrm>
            <a:off x="10820095" y="731520"/>
            <a:ext cx="320040" cy="32004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05695" y="1645920"/>
            <a:ext cx="201168" cy="201168"/>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5212080"/>
            <a:ext cx="256032" cy="25603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28800" y="5943600"/>
            <a:ext cx="164592" cy="16459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724247" y="1280160"/>
            <a:ext cx="2743200" cy="365760"/>
          </a:xfrm>
          <a:prstGeom prst="round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24247" y="1298448"/>
            <a:ext cx="2743200" cy="365760"/>
          </a:xfrm>
          <a:prstGeom prst="rect">
            <a:avLst/>
          </a:prstGeom>
          <a:noFill/>
        </p:spPr>
        <p:txBody>
          <a:bodyPr wrap="square">
            <a:spAutoFit/>
          </a:bodyPr>
          <a:lstStyle/>
          <a:p>
            <a:pPr algn="ctr">
              <a:defRPr sz="1400" b="1">
                <a:solidFill>
                  <a:srgbClr val="FFFFFF"/>
                </a:solidFill>
                <a:latin typeface="Calibri"/>
              </a:defRPr>
            </a:pPr>
            <a:r>
              <a:t>Relation : 1 Bassin → N Espèces</a:t>
            </a:r>
          </a:p>
        </p:txBody>
      </p:sp>
      <p:sp>
        <p:nvSpPr>
          <p:cNvPr id="11" name="Rounded Rectangle 10"/>
          <p:cNvSpPr/>
          <p:nvPr/>
        </p:nvSpPr>
        <p:spPr>
          <a:xfrm>
            <a:off x="914400" y="2011680"/>
            <a:ext cx="4572000" cy="3474720"/>
          </a:xfrm>
          <a:prstGeom prst="roundRect">
            <a:avLst/>
          </a:prstGeom>
          <a:solidFill>
            <a:srgbClr val="003264"/>
          </a:solidFill>
          <a:ln w="38100">
            <a:solidFill>
              <a:srgbClr val="007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4400" y="2011680"/>
            <a:ext cx="4572000" cy="54864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2084831"/>
            <a:ext cx="4572000" cy="457200"/>
          </a:xfrm>
          <a:prstGeom prst="rect">
            <a:avLst/>
          </a:prstGeom>
          <a:noFill/>
        </p:spPr>
        <p:txBody>
          <a:bodyPr wrap="square">
            <a:spAutoFit/>
          </a:bodyPr>
          <a:lstStyle/>
          <a:p>
            <a:pPr algn="ctr">
              <a:defRPr sz="2000" b="1">
                <a:solidFill>
                  <a:srgbClr val="FFFFFF"/>
                </a:solidFill>
                <a:latin typeface="Calibri"/>
              </a:defRPr>
            </a:pPr>
            <a:r>
              <a:t>🪣 BASSIN</a:t>
            </a:r>
          </a:p>
        </p:txBody>
      </p:sp>
      <p:sp>
        <p:nvSpPr>
          <p:cNvPr id="14" name="TextBox 13"/>
          <p:cNvSpPr txBox="1"/>
          <p:nvPr/>
        </p:nvSpPr>
        <p:spPr>
          <a:xfrm>
            <a:off x="1097280" y="2697480"/>
            <a:ext cx="4206240" cy="365760"/>
          </a:xfrm>
          <a:prstGeom prst="rect">
            <a:avLst/>
          </a:prstGeom>
          <a:noFill/>
        </p:spPr>
        <p:txBody>
          <a:bodyPr wrap="square">
            <a:spAutoFit/>
          </a:bodyPr>
          <a:lstStyle/>
          <a:p>
            <a:pPr algn="l">
              <a:defRPr sz="1400" b="0">
                <a:solidFill>
                  <a:srgbClr val="FFFFFF"/>
                </a:solidFill>
                <a:latin typeface="Calibri"/>
              </a:defRPr>
            </a:pPr>
            <a:r>
              <a:t>• nom_bassin : String</a:t>
            </a:r>
          </a:p>
        </p:txBody>
      </p:sp>
      <p:sp>
        <p:nvSpPr>
          <p:cNvPr id="15" name="TextBox 14"/>
          <p:cNvSpPr txBox="1"/>
          <p:nvPr/>
        </p:nvSpPr>
        <p:spPr>
          <a:xfrm>
            <a:off x="1097280" y="3108960"/>
            <a:ext cx="4206240" cy="365760"/>
          </a:xfrm>
          <a:prstGeom prst="rect">
            <a:avLst/>
          </a:prstGeom>
          <a:noFill/>
        </p:spPr>
        <p:txBody>
          <a:bodyPr wrap="square">
            <a:spAutoFit/>
          </a:bodyPr>
          <a:lstStyle/>
          <a:p>
            <a:pPr algn="l">
              <a:defRPr sz="1400" b="0">
                <a:solidFill>
                  <a:srgbClr val="FFFFFF"/>
                </a:solidFill>
                <a:latin typeface="Calibri"/>
              </a:defRPr>
            </a:pPr>
            <a:r>
              <a:t>• volume_litres : Integer</a:t>
            </a:r>
          </a:p>
        </p:txBody>
      </p:sp>
      <p:sp>
        <p:nvSpPr>
          <p:cNvPr id="16" name="TextBox 15"/>
          <p:cNvSpPr txBox="1"/>
          <p:nvPr/>
        </p:nvSpPr>
        <p:spPr>
          <a:xfrm>
            <a:off x="1097280" y="3520440"/>
            <a:ext cx="4206240" cy="365760"/>
          </a:xfrm>
          <a:prstGeom prst="rect">
            <a:avLst/>
          </a:prstGeom>
          <a:noFill/>
        </p:spPr>
        <p:txBody>
          <a:bodyPr wrap="square">
            <a:spAutoFit/>
          </a:bodyPr>
          <a:lstStyle/>
          <a:p>
            <a:pPr algn="l">
              <a:defRPr sz="1400" b="0">
                <a:solidFill>
                  <a:srgbClr val="FFFFFF"/>
                </a:solidFill>
                <a:latin typeface="Calibri"/>
              </a:defRPr>
            </a:pPr>
            <a:r>
              <a:t>• type_eau : Enum [Douce|Saumâtre|Salée]</a:t>
            </a:r>
          </a:p>
        </p:txBody>
      </p:sp>
      <p:sp>
        <p:nvSpPr>
          <p:cNvPr id="17" name="TextBox 16"/>
          <p:cNvSpPr txBox="1"/>
          <p:nvPr/>
        </p:nvSpPr>
        <p:spPr>
          <a:xfrm>
            <a:off x="1097280" y="3931920"/>
            <a:ext cx="4206240" cy="365760"/>
          </a:xfrm>
          <a:prstGeom prst="rect">
            <a:avLst/>
          </a:prstGeom>
          <a:noFill/>
        </p:spPr>
        <p:txBody>
          <a:bodyPr wrap="square">
            <a:spAutoFit/>
          </a:bodyPr>
          <a:lstStyle/>
          <a:p>
            <a:pPr algn="l">
              <a:defRPr sz="1400" b="0">
                <a:solidFill>
                  <a:srgbClr val="FFFFFF"/>
                </a:solidFill>
                <a:latin typeface="Calibri"/>
              </a:defRPr>
            </a:pPr>
            <a:r>
              <a:t>• temperature_actuelle : Float</a:t>
            </a:r>
          </a:p>
        </p:txBody>
      </p:sp>
      <p:sp>
        <p:nvSpPr>
          <p:cNvPr id="18" name="TextBox 17"/>
          <p:cNvSpPr txBox="1"/>
          <p:nvPr/>
        </p:nvSpPr>
        <p:spPr>
          <a:xfrm>
            <a:off x="1097280" y="4343400"/>
            <a:ext cx="4206240" cy="365760"/>
          </a:xfrm>
          <a:prstGeom prst="rect">
            <a:avLst/>
          </a:prstGeom>
          <a:noFill/>
        </p:spPr>
        <p:txBody>
          <a:bodyPr wrap="square">
            <a:spAutoFit/>
          </a:bodyPr>
          <a:lstStyle/>
          <a:p>
            <a:pPr algn="l">
              <a:defRPr sz="1400" b="0">
                <a:solidFill>
                  <a:srgbClr val="FFFFFF"/>
                </a:solidFill>
                <a:latin typeface="Calibri"/>
              </a:defRPr>
            </a:pPr>
            <a:r>
              <a:t>• ph_actuel : Float</a:t>
            </a:r>
          </a:p>
        </p:txBody>
      </p:sp>
      <p:sp>
        <p:nvSpPr>
          <p:cNvPr id="19" name="TextBox 18"/>
          <p:cNvSpPr txBox="1"/>
          <p:nvPr/>
        </p:nvSpPr>
        <p:spPr>
          <a:xfrm>
            <a:off x="1097280" y="4754880"/>
            <a:ext cx="4206240" cy="365760"/>
          </a:xfrm>
          <a:prstGeom prst="rect">
            <a:avLst/>
          </a:prstGeom>
          <a:noFill/>
        </p:spPr>
        <p:txBody>
          <a:bodyPr wrap="square">
            <a:spAutoFit/>
          </a:bodyPr>
          <a:lstStyle/>
          <a:p>
            <a:pPr algn="l">
              <a:defRPr sz="1400" b="0">
                <a:solidFill>
                  <a:srgbClr val="FFFFFF"/>
                </a:solidFill>
                <a:latin typeface="Calibri"/>
              </a:defRPr>
            </a:pPr>
            <a:r>
              <a:t>• date_derniere_mesure : DateTime</a:t>
            </a:r>
          </a:p>
        </p:txBody>
      </p:sp>
      <p:sp>
        <p:nvSpPr>
          <p:cNvPr id="20" name="Right Arrow 19"/>
          <p:cNvSpPr/>
          <p:nvPr/>
        </p:nvSpPr>
        <p:spPr>
          <a:xfrm>
            <a:off x="5760720" y="3474720"/>
            <a:ext cx="731520" cy="365760"/>
          </a:xfrm>
          <a:prstGeom prst="rightArrow">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23560" y="3337560"/>
            <a:ext cx="457200" cy="274320"/>
          </a:xfrm>
          <a:prstGeom prst="rect">
            <a:avLst/>
          </a:prstGeom>
          <a:noFill/>
        </p:spPr>
        <p:txBody>
          <a:bodyPr wrap="square">
            <a:spAutoFit/>
          </a:bodyPr>
          <a:lstStyle/>
          <a:p>
            <a:pPr algn="ctr">
              <a:defRPr sz="1400" b="1">
                <a:solidFill>
                  <a:srgbClr val="FFFFFF"/>
                </a:solidFill>
                <a:latin typeface="Calibri"/>
              </a:defRPr>
            </a:pPr>
            <a:r>
              <a:t>1</a:t>
            </a:r>
          </a:p>
        </p:txBody>
      </p:sp>
      <p:sp>
        <p:nvSpPr>
          <p:cNvPr id="22" name="Left Arrow 21"/>
          <p:cNvSpPr/>
          <p:nvPr/>
        </p:nvSpPr>
        <p:spPr>
          <a:xfrm>
            <a:off x="5760720" y="4023360"/>
            <a:ext cx="731520" cy="365760"/>
          </a:xfrm>
          <a:prstGeom prst="leftArrow">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63640" y="4160520"/>
            <a:ext cx="457200" cy="274320"/>
          </a:xfrm>
          <a:prstGeom prst="rect">
            <a:avLst/>
          </a:prstGeom>
          <a:noFill/>
        </p:spPr>
        <p:txBody>
          <a:bodyPr wrap="square">
            <a:spAutoFit/>
          </a:bodyPr>
          <a:lstStyle/>
          <a:p>
            <a:pPr algn="ctr">
              <a:defRPr sz="1400" b="1">
                <a:solidFill>
                  <a:srgbClr val="FFFFFF"/>
                </a:solidFill>
                <a:latin typeface="Calibri"/>
              </a:defRPr>
            </a:pPr>
            <a:r>
              <a:t>N</a:t>
            </a:r>
          </a:p>
        </p:txBody>
      </p:sp>
      <p:sp>
        <p:nvSpPr>
          <p:cNvPr id="24" name="Rounded Rectangle 23"/>
          <p:cNvSpPr/>
          <p:nvPr/>
        </p:nvSpPr>
        <p:spPr>
          <a:xfrm>
            <a:off x="6675120" y="2011680"/>
            <a:ext cx="4572000" cy="3474720"/>
          </a:xfrm>
          <a:prstGeom prst="roundRect">
            <a:avLst/>
          </a:prstGeom>
          <a:solidFill>
            <a:srgbClr val="003264"/>
          </a:solidFill>
          <a:ln w="381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675120" y="2011680"/>
            <a:ext cx="4572000" cy="54864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75120" y="2084831"/>
            <a:ext cx="4572000" cy="457200"/>
          </a:xfrm>
          <a:prstGeom prst="rect">
            <a:avLst/>
          </a:prstGeom>
          <a:noFill/>
        </p:spPr>
        <p:txBody>
          <a:bodyPr wrap="square">
            <a:spAutoFit/>
          </a:bodyPr>
          <a:lstStyle/>
          <a:p>
            <a:pPr algn="ctr">
              <a:defRPr sz="2000" b="1">
                <a:solidFill>
                  <a:srgbClr val="FFFFFF"/>
                </a:solidFill>
                <a:latin typeface="Calibri"/>
              </a:defRPr>
            </a:pPr>
            <a:r>
              <a:t>🐟 ESPÈCE</a:t>
            </a:r>
          </a:p>
        </p:txBody>
      </p:sp>
      <p:sp>
        <p:nvSpPr>
          <p:cNvPr id="27" name="TextBox 26"/>
          <p:cNvSpPr txBox="1"/>
          <p:nvPr/>
        </p:nvSpPr>
        <p:spPr>
          <a:xfrm>
            <a:off x="6858000" y="2697480"/>
            <a:ext cx="4206240" cy="365760"/>
          </a:xfrm>
          <a:prstGeom prst="rect">
            <a:avLst/>
          </a:prstGeom>
          <a:noFill/>
        </p:spPr>
        <p:txBody>
          <a:bodyPr wrap="square">
            <a:spAutoFit/>
          </a:bodyPr>
          <a:lstStyle/>
          <a:p>
            <a:pPr algn="l">
              <a:defRPr sz="1400" b="0">
                <a:solidFill>
                  <a:srgbClr val="FFFFFF"/>
                </a:solidFill>
                <a:latin typeface="Calibri"/>
              </a:defRPr>
            </a:pPr>
            <a:r>
              <a:t>• nom_commun : String</a:t>
            </a:r>
          </a:p>
        </p:txBody>
      </p:sp>
      <p:sp>
        <p:nvSpPr>
          <p:cNvPr id="28" name="TextBox 27"/>
          <p:cNvSpPr txBox="1"/>
          <p:nvPr/>
        </p:nvSpPr>
        <p:spPr>
          <a:xfrm>
            <a:off x="6858000" y="3108960"/>
            <a:ext cx="4206240" cy="365760"/>
          </a:xfrm>
          <a:prstGeom prst="rect">
            <a:avLst/>
          </a:prstGeom>
          <a:noFill/>
        </p:spPr>
        <p:txBody>
          <a:bodyPr wrap="square">
            <a:spAutoFit/>
          </a:bodyPr>
          <a:lstStyle/>
          <a:p>
            <a:pPr algn="l">
              <a:defRPr sz="1400" b="0">
                <a:solidFill>
                  <a:srgbClr val="FFFFFF"/>
                </a:solidFill>
                <a:latin typeface="Calibri"/>
              </a:defRPr>
            </a:pPr>
            <a:r>
              <a:t>• nom_scientifique : String</a:t>
            </a:r>
          </a:p>
        </p:txBody>
      </p:sp>
      <p:sp>
        <p:nvSpPr>
          <p:cNvPr id="29" name="TextBox 28"/>
          <p:cNvSpPr txBox="1"/>
          <p:nvPr/>
        </p:nvSpPr>
        <p:spPr>
          <a:xfrm>
            <a:off x="6858000" y="3520440"/>
            <a:ext cx="4206240" cy="365760"/>
          </a:xfrm>
          <a:prstGeom prst="rect">
            <a:avLst/>
          </a:prstGeom>
          <a:noFill/>
        </p:spPr>
        <p:txBody>
          <a:bodyPr wrap="square">
            <a:spAutoFit/>
          </a:bodyPr>
          <a:lstStyle/>
          <a:p>
            <a:pPr algn="l">
              <a:defRPr sz="1400" b="0">
                <a:solidFill>
                  <a:srgbClr val="FFFFFF"/>
                </a:solidFill>
                <a:latin typeface="Calibri"/>
              </a:defRPr>
            </a:pPr>
            <a:r>
              <a:t>• famille : String</a:t>
            </a:r>
          </a:p>
        </p:txBody>
      </p:sp>
      <p:sp>
        <p:nvSpPr>
          <p:cNvPr id="30" name="TextBox 29"/>
          <p:cNvSpPr txBox="1"/>
          <p:nvPr/>
        </p:nvSpPr>
        <p:spPr>
          <a:xfrm>
            <a:off x="6858000" y="3931920"/>
            <a:ext cx="4206240" cy="365760"/>
          </a:xfrm>
          <a:prstGeom prst="rect">
            <a:avLst/>
          </a:prstGeom>
          <a:noFill/>
        </p:spPr>
        <p:txBody>
          <a:bodyPr wrap="square">
            <a:spAutoFit/>
          </a:bodyPr>
          <a:lstStyle/>
          <a:p>
            <a:pPr algn="l">
              <a:defRPr sz="1400" b="0">
                <a:solidFill>
                  <a:srgbClr val="FFFFFF"/>
                </a:solidFill>
                <a:latin typeface="Calibri"/>
              </a:defRPr>
            </a:pPr>
            <a:r>
              <a:t>• statut : String</a:t>
            </a:r>
          </a:p>
        </p:txBody>
      </p:sp>
      <p:sp>
        <p:nvSpPr>
          <p:cNvPr id="31" name="TextBox 30"/>
          <p:cNvSpPr txBox="1"/>
          <p:nvPr/>
        </p:nvSpPr>
        <p:spPr>
          <a:xfrm>
            <a:off x="6858000" y="4343400"/>
            <a:ext cx="4206240" cy="365760"/>
          </a:xfrm>
          <a:prstGeom prst="rect">
            <a:avLst/>
          </a:prstGeom>
          <a:noFill/>
        </p:spPr>
        <p:txBody>
          <a:bodyPr wrap="square">
            <a:spAutoFit/>
          </a:bodyPr>
          <a:lstStyle/>
          <a:p>
            <a:pPr algn="l">
              <a:defRPr sz="1400" b="0">
                <a:solidFill>
                  <a:srgbClr val="FFFFFF"/>
                </a:solidFill>
                <a:latin typeface="Calibri"/>
              </a:defRPr>
            </a:pPr>
            <a:r>
              <a:t>• bassin : FK → Bassin</a:t>
            </a:r>
          </a:p>
        </p:txBody>
      </p:sp>
      <p:sp>
        <p:nvSpPr>
          <p:cNvPr id="32" name="TextBox 31"/>
          <p:cNvSpPr txBox="1"/>
          <p:nvPr/>
        </p:nvSpPr>
        <p:spPr>
          <a:xfrm>
            <a:off x="6858000" y="4754880"/>
            <a:ext cx="4206240" cy="365760"/>
          </a:xfrm>
          <a:prstGeom prst="rect">
            <a:avLst/>
          </a:prstGeom>
          <a:noFill/>
        </p:spPr>
        <p:txBody>
          <a:bodyPr wrap="square">
            <a:spAutoFit/>
          </a:bodyPr>
          <a:lstStyle/>
          <a:p>
            <a:pPr algn="l">
              <a:defRPr sz="1400" b="0">
                <a:solidFill>
                  <a:srgbClr val="FFFFFF"/>
                </a:solidFill>
                <a:latin typeface="Calibri"/>
              </a:defRPr>
            </a:pPr>
            <a:r>
              <a:t>• temperature_ideale : Float</a:t>
            </a:r>
          </a:p>
        </p:txBody>
      </p:sp>
      <p:sp>
        <p:nvSpPr>
          <p:cNvPr id="33" name="TextBox 32"/>
          <p:cNvSpPr txBox="1"/>
          <p:nvPr/>
        </p:nvSpPr>
        <p:spPr>
          <a:xfrm>
            <a:off x="6858000" y="5166360"/>
            <a:ext cx="4206240" cy="365760"/>
          </a:xfrm>
          <a:prstGeom prst="rect">
            <a:avLst/>
          </a:prstGeom>
          <a:noFill/>
        </p:spPr>
        <p:txBody>
          <a:bodyPr wrap="square">
            <a:spAutoFit/>
          </a:bodyPr>
          <a:lstStyle/>
          <a:p>
            <a:pPr algn="l">
              <a:defRPr sz="1400" b="0">
                <a:solidFill>
                  <a:srgbClr val="FFFFFF"/>
                </a:solidFill>
                <a:latin typeface="Calibri"/>
              </a:defRPr>
            </a:pPr>
            <a:r>
              <a:t>• ph_requis : Float</a:t>
            </a:r>
          </a:p>
        </p:txBody>
      </p:sp>
      <p:sp>
        <p:nvSpPr>
          <p:cNvPr id="34" name="Rounded Rectangle 33"/>
          <p:cNvSpPr/>
          <p:nvPr/>
        </p:nvSpPr>
        <p:spPr>
          <a:xfrm>
            <a:off x="8686800" y="4892040"/>
            <a:ext cx="1371600" cy="274320"/>
          </a:xfrm>
          <a:prstGeom prst="roundRect">
            <a:avLst/>
          </a:prstGeom>
          <a:solidFill>
            <a:srgbClr val="C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86800" y="4919472"/>
            <a:ext cx="1371600" cy="274320"/>
          </a:xfrm>
          <a:prstGeom prst="rect">
            <a:avLst/>
          </a:prstGeom>
          <a:noFill/>
        </p:spPr>
        <p:txBody>
          <a:bodyPr wrap="square">
            <a:spAutoFit/>
          </a:bodyPr>
          <a:lstStyle/>
          <a:p>
            <a:pPr algn="ctr">
              <a:defRPr sz="1000" b="1">
                <a:solidFill>
                  <a:srgbClr val="FFFFFF"/>
                </a:solidFill>
                <a:latin typeface="Calibri"/>
              </a:defRPr>
            </a:pPr>
            <a:r>
              <a:t>Clé Étrangère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87552"/>
            <a:ext cx="12191695" cy="45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
            <a:ext cx="11277295" cy="640080"/>
          </a:xfrm>
          <a:prstGeom prst="rect">
            <a:avLst/>
          </a:prstGeom>
          <a:noFill/>
        </p:spPr>
        <p:txBody>
          <a:bodyPr wrap="square">
            <a:spAutoFit/>
          </a:bodyPr>
          <a:lstStyle/>
          <a:p>
            <a:pPr algn="l">
              <a:defRPr sz="3200" b="1">
                <a:solidFill>
                  <a:srgbClr val="FFFFFF"/>
                </a:solidFill>
                <a:latin typeface="Calibri"/>
              </a:defRPr>
            </a:pPr>
            <a:r>
              <a:t>Technologies utilisées</a:t>
            </a:r>
          </a:p>
        </p:txBody>
      </p:sp>
      <p:sp>
        <p:nvSpPr>
          <p:cNvPr id="5" name="Oval 4"/>
          <p:cNvSpPr/>
          <p:nvPr/>
        </p:nvSpPr>
        <p:spPr>
          <a:xfrm>
            <a:off x="10820095" y="731520"/>
            <a:ext cx="320040" cy="32004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05695" y="1645920"/>
            <a:ext cx="201168" cy="201168"/>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5212080"/>
            <a:ext cx="256032" cy="25603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28800" y="5943600"/>
            <a:ext cx="164592" cy="16459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371600"/>
            <a:ext cx="5303520" cy="2103120"/>
          </a:xfrm>
          <a:prstGeom prst="roundRect">
            <a:avLst/>
          </a:prstGeom>
          <a:solidFill>
            <a:srgbClr val="003264"/>
          </a:solidFill>
          <a:ln w="25400">
            <a:solidFill>
              <a:srgbClr val="007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14400" y="1645920"/>
            <a:ext cx="640080" cy="640080"/>
          </a:xfrm>
          <a:prstGeom prst="ellipse">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719072"/>
            <a:ext cx="640080" cy="457200"/>
          </a:xfrm>
          <a:prstGeom prst="rect">
            <a:avLst/>
          </a:prstGeom>
          <a:noFill/>
        </p:spPr>
        <p:txBody>
          <a:bodyPr wrap="square">
            <a:spAutoFit/>
          </a:bodyPr>
          <a:lstStyle/>
          <a:p>
            <a:pPr algn="ctr">
              <a:defRPr sz="2800" b="1">
                <a:solidFill>
                  <a:srgbClr val="FFFFFF"/>
                </a:solidFill>
                <a:latin typeface="Calibri"/>
              </a:defRPr>
            </a:pPr>
            <a:r>
              <a:t>🐍</a:t>
            </a:r>
          </a:p>
        </p:txBody>
      </p:sp>
      <p:sp>
        <p:nvSpPr>
          <p:cNvPr id="12" name="TextBox 11"/>
          <p:cNvSpPr txBox="1"/>
          <p:nvPr/>
        </p:nvSpPr>
        <p:spPr>
          <a:xfrm>
            <a:off x="1737360" y="1691640"/>
            <a:ext cx="3931920" cy="457200"/>
          </a:xfrm>
          <a:prstGeom prst="rect">
            <a:avLst/>
          </a:prstGeom>
          <a:noFill/>
        </p:spPr>
        <p:txBody>
          <a:bodyPr wrap="square">
            <a:spAutoFit/>
          </a:bodyPr>
          <a:lstStyle/>
          <a:p>
            <a:pPr algn="l">
              <a:defRPr sz="2000" b="1">
                <a:solidFill>
                  <a:srgbClr val="FFFFFF"/>
                </a:solidFill>
                <a:latin typeface="Calibri"/>
              </a:defRPr>
            </a:pPr>
            <a:r>
              <a:t>Django (Python)</a:t>
            </a:r>
          </a:p>
        </p:txBody>
      </p:sp>
      <p:sp>
        <p:nvSpPr>
          <p:cNvPr id="13" name="TextBox 12"/>
          <p:cNvSpPr txBox="1"/>
          <p:nvPr/>
        </p:nvSpPr>
        <p:spPr>
          <a:xfrm>
            <a:off x="914400" y="2423160"/>
            <a:ext cx="4754880" cy="914400"/>
          </a:xfrm>
          <a:prstGeom prst="rect">
            <a:avLst/>
          </a:prstGeom>
          <a:noFill/>
        </p:spPr>
        <p:txBody>
          <a:bodyPr wrap="square">
            <a:spAutoFit/>
          </a:bodyPr>
          <a:lstStyle/>
          <a:p>
            <a:pPr algn="l">
              <a:defRPr sz="1400" b="0">
                <a:solidFill>
                  <a:srgbClr val="C8DCF0"/>
                </a:solidFill>
                <a:latin typeface="Calibri"/>
              </a:defRPr>
            </a:pPr>
            <a:r>
              <a:t>Framework backend, ORM, sécurité CSRF, interface /admin automatique, migrations</a:t>
            </a:r>
          </a:p>
        </p:txBody>
      </p:sp>
      <p:sp>
        <p:nvSpPr>
          <p:cNvPr id="14" name="Rounded Rectangle 13"/>
          <p:cNvSpPr/>
          <p:nvPr/>
        </p:nvSpPr>
        <p:spPr>
          <a:xfrm>
            <a:off x="6309360" y="1371600"/>
            <a:ext cx="5303520" cy="2103120"/>
          </a:xfrm>
          <a:prstGeom prst="roundRect">
            <a:avLst/>
          </a:prstGeom>
          <a:solidFill>
            <a:srgbClr val="003264"/>
          </a:solidFill>
          <a:ln w="25400">
            <a:solidFill>
              <a:srgbClr val="17A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583680" y="1645920"/>
            <a:ext cx="640080" cy="64008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1719072"/>
            <a:ext cx="640080" cy="457200"/>
          </a:xfrm>
          <a:prstGeom prst="rect">
            <a:avLst/>
          </a:prstGeom>
          <a:noFill/>
        </p:spPr>
        <p:txBody>
          <a:bodyPr wrap="square">
            <a:spAutoFit/>
          </a:bodyPr>
          <a:lstStyle/>
          <a:p>
            <a:pPr algn="ctr">
              <a:defRPr sz="2800" b="1">
                <a:solidFill>
                  <a:srgbClr val="FFFFFF"/>
                </a:solidFill>
                <a:latin typeface="Calibri"/>
              </a:defRPr>
            </a:pPr>
            <a:r>
              <a:t>🎨</a:t>
            </a:r>
          </a:p>
        </p:txBody>
      </p:sp>
      <p:sp>
        <p:nvSpPr>
          <p:cNvPr id="17" name="TextBox 16"/>
          <p:cNvSpPr txBox="1"/>
          <p:nvPr/>
        </p:nvSpPr>
        <p:spPr>
          <a:xfrm>
            <a:off x="7406640" y="1691640"/>
            <a:ext cx="3931920" cy="457200"/>
          </a:xfrm>
          <a:prstGeom prst="rect">
            <a:avLst/>
          </a:prstGeom>
          <a:noFill/>
        </p:spPr>
        <p:txBody>
          <a:bodyPr wrap="square">
            <a:spAutoFit/>
          </a:bodyPr>
          <a:lstStyle/>
          <a:p>
            <a:pPr algn="l">
              <a:defRPr sz="2000" b="1">
                <a:solidFill>
                  <a:srgbClr val="FFFFFF"/>
                </a:solidFill>
                <a:latin typeface="Calibri"/>
              </a:defRPr>
            </a:pPr>
            <a:r>
              <a:t>Bootstrap CSS</a:t>
            </a:r>
          </a:p>
        </p:txBody>
      </p:sp>
      <p:sp>
        <p:nvSpPr>
          <p:cNvPr id="18" name="TextBox 17"/>
          <p:cNvSpPr txBox="1"/>
          <p:nvPr/>
        </p:nvSpPr>
        <p:spPr>
          <a:xfrm>
            <a:off x="6583680" y="2423160"/>
            <a:ext cx="4754880" cy="914400"/>
          </a:xfrm>
          <a:prstGeom prst="rect">
            <a:avLst/>
          </a:prstGeom>
          <a:noFill/>
        </p:spPr>
        <p:txBody>
          <a:bodyPr wrap="square">
            <a:spAutoFit/>
          </a:bodyPr>
          <a:lstStyle/>
          <a:p>
            <a:pPr algn="l">
              <a:defRPr sz="1400" b="0">
                <a:solidFill>
                  <a:srgbClr val="C8DCF0"/>
                </a:solidFill>
                <a:latin typeface="Calibri"/>
              </a:defRPr>
            </a:pPr>
            <a:r>
              <a:t>Interface publique, charte Marine (bleus/blanc), badges colorés par type d'eau</a:t>
            </a:r>
          </a:p>
        </p:txBody>
      </p:sp>
      <p:sp>
        <p:nvSpPr>
          <p:cNvPr id="19" name="Rounded Rectangle 18"/>
          <p:cNvSpPr/>
          <p:nvPr/>
        </p:nvSpPr>
        <p:spPr>
          <a:xfrm>
            <a:off x="640080" y="3749040"/>
            <a:ext cx="5303520" cy="2103120"/>
          </a:xfrm>
          <a:prstGeom prst="roundRect">
            <a:avLst/>
          </a:prstGeom>
          <a:solidFill>
            <a:srgbClr val="003264"/>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14400" y="4023360"/>
            <a:ext cx="640080" cy="64008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4096512"/>
            <a:ext cx="640080" cy="457200"/>
          </a:xfrm>
          <a:prstGeom prst="rect">
            <a:avLst/>
          </a:prstGeom>
          <a:noFill/>
        </p:spPr>
        <p:txBody>
          <a:bodyPr wrap="square">
            <a:spAutoFit/>
          </a:bodyPr>
          <a:lstStyle/>
          <a:p>
            <a:pPr algn="ctr">
              <a:defRPr sz="2800" b="1">
                <a:solidFill>
                  <a:srgbClr val="FFFFFF"/>
                </a:solidFill>
                <a:latin typeface="Calibri"/>
              </a:defRPr>
            </a:pPr>
            <a:r>
              <a:t>🗄️</a:t>
            </a:r>
          </a:p>
        </p:txBody>
      </p:sp>
      <p:sp>
        <p:nvSpPr>
          <p:cNvPr id="22" name="TextBox 21"/>
          <p:cNvSpPr txBox="1"/>
          <p:nvPr/>
        </p:nvSpPr>
        <p:spPr>
          <a:xfrm>
            <a:off x="1737360" y="4069080"/>
            <a:ext cx="3931920" cy="457200"/>
          </a:xfrm>
          <a:prstGeom prst="rect">
            <a:avLst/>
          </a:prstGeom>
          <a:noFill/>
        </p:spPr>
        <p:txBody>
          <a:bodyPr wrap="square">
            <a:spAutoFit/>
          </a:bodyPr>
          <a:lstStyle/>
          <a:p>
            <a:pPr algn="l">
              <a:defRPr sz="2000" b="1">
                <a:solidFill>
                  <a:srgbClr val="FFFFFF"/>
                </a:solidFill>
                <a:latin typeface="Calibri"/>
              </a:defRPr>
            </a:pPr>
            <a:r>
              <a:t>SQLite</a:t>
            </a:r>
          </a:p>
        </p:txBody>
      </p:sp>
      <p:sp>
        <p:nvSpPr>
          <p:cNvPr id="23" name="TextBox 22"/>
          <p:cNvSpPr txBox="1"/>
          <p:nvPr/>
        </p:nvSpPr>
        <p:spPr>
          <a:xfrm>
            <a:off x="914400" y="4800600"/>
            <a:ext cx="4754880" cy="914400"/>
          </a:xfrm>
          <a:prstGeom prst="rect">
            <a:avLst/>
          </a:prstGeom>
          <a:noFill/>
        </p:spPr>
        <p:txBody>
          <a:bodyPr wrap="square">
            <a:spAutoFit/>
          </a:bodyPr>
          <a:lstStyle/>
          <a:p>
            <a:pPr algn="l">
              <a:defRPr sz="1400" b="0">
                <a:solidFill>
                  <a:srgbClr val="C8DCF0"/>
                </a:solidFill>
                <a:latin typeface="Calibri"/>
              </a:defRPr>
            </a:pPr>
            <a:r>
              <a:t>Base de données relationnelle légère et intégrée</a:t>
            </a:r>
          </a:p>
        </p:txBody>
      </p:sp>
      <p:sp>
        <p:nvSpPr>
          <p:cNvPr id="24" name="Rounded Rectangle 23"/>
          <p:cNvSpPr/>
          <p:nvPr/>
        </p:nvSpPr>
        <p:spPr>
          <a:xfrm>
            <a:off x="6309360" y="3749040"/>
            <a:ext cx="5303520" cy="2103120"/>
          </a:xfrm>
          <a:prstGeom prst="roundRect">
            <a:avLst/>
          </a:prstGeom>
          <a:solidFill>
            <a:srgbClr val="003264"/>
          </a:solidFill>
          <a:ln w="25400">
            <a:solidFill>
              <a:srgbClr val="007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583680" y="4023360"/>
            <a:ext cx="640080" cy="640080"/>
          </a:xfrm>
          <a:prstGeom prst="ellipse">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0" y="4096512"/>
            <a:ext cx="640080" cy="457200"/>
          </a:xfrm>
          <a:prstGeom prst="rect">
            <a:avLst/>
          </a:prstGeom>
          <a:noFill/>
        </p:spPr>
        <p:txBody>
          <a:bodyPr wrap="square">
            <a:spAutoFit/>
          </a:bodyPr>
          <a:lstStyle/>
          <a:p>
            <a:pPr algn="ctr">
              <a:defRPr sz="2800" b="1">
                <a:solidFill>
                  <a:srgbClr val="FFFFFF"/>
                </a:solidFill>
                <a:latin typeface="Calibri"/>
              </a:defRPr>
            </a:pPr>
            <a:r>
              <a:t>⚙️</a:t>
            </a:r>
          </a:p>
        </p:txBody>
      </p:sp>
      <p:sp>
        <p:nvSpPr>
          <p:cNvPr id="27" name="TextBox 26"/>
          <p:cNvSpPr txBox="1"/>
          <p:nvPr/>
        </p:nvSpPr>
        <p:spPr>
          <a:xfrm>
            <a:off x="7406640" y="4069080"/>
            <a:ext cx="3931920" cy="457200"/>
          </a:xfrm>
          <a:prstGeom prst="rect">
            <a:avLst/>
          </a:prstGeom>
          <a:noFill/>
        </p:spPr>
        <p:txBody>
          <a:bodyPr wrap="square">
            <a:spAutoFit/>
          </a:bodyPr>
          <a:lstStyle/>
          <a:p>
            <a:pPr algn="l">
              <a:defRPr sz="2000" b="1">
                <a:solidFill>
                  <a:srgbClr val="FFFFFF"/>
                </a:solidFill>
                <a:latin typeface="Calibri"/>
              </a:defRPr>
            </a:pPr>
            <a:r>
              <a:t>GitHub</a:t>
            </a:r>
          </a:p>
        </p:txBody>
      </p:sp>
      <p:sp>
        <p:nvSpPr>
          <p:cNvPr id="28" name="TextBox 27"/>
          <p:cNvSpPr txBox="1"/>
          <p:nvPr/>
        </p:nvSpPr>
        <p:spPr>
          <a:xfrm>
            <a:off x="6583680" y="4800600"/>
            <a:ext cx="4754880" cy="914400"/>
          </a:xfrm>
          <a:prstGeom prst="rect">
            <a:avLst/>
          </a:prstGeom>
          <a:noFill/>
        </p:spPr>
        <p:txBody>
          <a:bodyPr wrap="square">
            <a:spAutoFit/>
          </a:bodyPr>
          <a:lstStyle/>
          <a:p>
            <a:pPr algn="l">
              <a:defRPr sz="1400" b="0">
                <a:solidFill>
                  <a:srgbClr val="C8DCF0"/>
                </a:solidFill>
                <a:latin typeface="Calibri"/>
              </a:defRPr>
            </a:pPr>
            <a:r>
              <a:t>Versioning du code source, collaboration et suivi du projet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87552"/>
            <a:ext cx="12191695" cy="45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
            <a:ext cx="11277295" cy="640080"/>
          </a:xfrm>
          <a:prstGeom prst="rect">
            <a:avLst/>
          </a:prstGeom>
          <a:noFill/>
        </p:spPr>
        <p:txBody>
          <a:bodyPr wrap="square">
            <a:spAutoFit/>
          </a:bodyPr>
          <a:lstStyle/>
          <a:p>
            <a:pPr algn="l">
              <a:defRPr sz="3200" b="1">
                <a:solidFill>
                  <a:srgbClr val="FFFFFF"/>
                </a:solidFill>
                <a:latin typeface="Calibri"/>
              </a:defRPr>
            </a:pPr>
            <a:r>
              <a:t>Interface de l'application</a:t>
            </a:r>
          </a:p>
        </p:txBody>
      </p:sp>
      <p:sp>
        <p:nvSpPr>
          <p:cNvPr id="5" name="Oval 4"/>
          <p:cNvSpPr/>
          <p:nvPr/>
        </p:nvSpPr>
        <p:spPr>
          <a:xfrm>
            <a:off x="10820095" y="731520"/>
            <a:ext cx="320040" cy="32004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05695" y="1645920"/>
            <a:ext cx="201168" cy="201168"/>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5212080"/>
            <a:ext cx="256032" cy="25603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28800" y="5943600"/>
            <a:ext cx="164592" cy="16459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371600"/>
            <a:ext cx="5212080" cy="2560320"/>
          </a:xfrm>
          <a:prstGeom prst="roundRect">
            <a:avLst/>
          </a:prstGeom>
          <a:solidFill>
            <a:srgbClr val="003264"/>
          </a:solidFill>
          <a:ln w="38100">
            <a:solidFill>
              <a:srgbClr val="007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371600"/>
            <a:ext cx="5212080" cy="5029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444752"/>
            <a:ext cx="5212080" cy="365760"/>
          </a:xfrm>
          <a:prstGeom prst="rect">
            <a:avLst/>
          </a:prstGeom>
          <a:noFill/>
        </p:spPr>
        <p:txBody>
          <a:bodyPr wrap="square">
            <a:spAutoFit/>
          </a:bodyPr>
          <a:lstStyle/>
          <a:p>
            <a:pPr algn="ctr">
              <a:defRPr sz="1600" b="1">
                <a:solidFill>
                  <a:srgbClr val="FFFFFF"/>
                </a:solidFill>
                <a:latin typeface="Calibri"/>
              </a:defRPr>
            </a:pPr>
            <a:r>
              <a:t>🛡️ Interface Admin (Conservateur)</a:t>
            </a:r>
          </a:p>
        </p:txBody>
      </p:sp>
      <p:sp>
        <p:nvSpPr>
          <p:cNvPr id="12" name="Rounded Rectangle 11"/>
          <p:cNvSpPr/>
          <p:nvPr/>
        </p:nvSpPr>
        <p:spPr>
          <a:xfrm>
            <a:off x="1188720" y="2057400"/>
            <a:ext cx="4297680" cy="365760"/>
          </a:xfrm>
          <a:prstGeom prst="roundRect">
            <a:avLst/>
          </a:prstGeom>
          <a:solidFill>
            <a:srgbClr val="001E3C"/>
          </a:solidFill>
          <a:ln w="12700">
            <a:solidFill>
              <a:srgbClr val="007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2084832"/>
            <a:ext cx="4297680" cy="320040"/>
          </a:xfrm>
          <a:prstGeom prst="rect">
            <a:avLst/>
          </a:prstGeom>
          <a:noFill/>
        </p:spPr>
        <p:txBody>
          <a:bodyPr wrap="square">
            <a:spAutoFit/>
          </a:bodyPr>
          <a:lstStyle/>
          <a:p>
            <a:pPr algn="ctr">
              <a:defRPr sz="1200" b="0">
                <a:solidFill>
                  <a:srgbClr val="17A2B8"/>
                </a:solidFill>
                <a:latin typeface="Calibri"/>
              </a:defRPr>
            </a:pPr>
            <a:r>
              <a:t>🔗 http://127.0.0.1:8000/admin/</a:t>
            </a:r>
          </a:p>
        </p:txBody>
      </p:sp>
      <p:sp>
        <p:nvSpPr>
          <p:cNvPr id="14" name="TextBox 13"/>
          <p:cNvSpPr txBox="1"/>
          <p:nvPr/>
        </p:nvSpPr>
        <p:spPr>
          <a:xfrm>
            <a:off x="1005840" y="2560320"/>
            <a:ext cx="4663440" cy="1097280"/>
          </a:xfrm>
          <a:prstGeom prst="rect">
            <a:avLst/>
          </a:prstGeom>
          <a:noFill/>
        </p:spPr>
        <p:txBody>
          <a:bodyPr wrap="square">
            <a:spAutoFit/>
          </a:bodyPr>
          <a:lstStyle/>
          <a:p>
            <a:pPr algn="l">
              <a:defRPr sz="1400" b="0">
                <a:solidFill>
                  <a:srgbClr val="C8DCF0"/>
                </a:solidFill>
                <a:latin typeface="Calibri"/>
              </a:defRPr>
            </a:pPr>
            <a:r>
              <a:t>Gestion complète des bassins, espèces et paramètres. Tableau de bord administrateur.</a:t>
            </a:r>
          </a:p>
        </p:txBody>
      </p:sp>
      <p:sp>
        <p:nvSpPr>
          <p:cNvPr id="15" name="Rounded Rectangle 14"/>
          <p:cNvSpPr/>
          <p:nvPr/>
        </p:nvSpPr>
        <p:spPr>
          <a:xfrm>
            <a:off x="6400800" y="1371600"/>
            <a:ext cx="5212080" cy="2560320"/>
          </a:xfrm>
          <a:prstGeom prst="roundRect">
            <a:avLst/>
          </a:prstGeom>
          <a:solidFill>
            <a:srgbClr val="003264"/>
          </a:solidFill>
          <a:ln w="38100">
            <a:solidFill>
              <a:srgbClr val="17A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0" y="1371600"/>
            <a:ext cx="5212080" cy="502920"/>
          </a:xfrm>
          <a:prstGeom prst="rect">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1444752"/>
            <a:ext cx="5212080" cy="365760"/>
          </a:xfrm>
          <a:prstGeom prst="rect">
            <a:avLst/>
          </a:prstGeom>
          <a:noFill/>
        </p:spPr>
        <p:txBody>
          <a:bodyPr wrap="square">
            <a:spAutoFit/>
          </a:bodyPr>
          <a:lstStyle/>
          <a:p>
            <a:pPr algn="ctr">
              <a:defRPr sz="1600" b="1">
                <a:solidFill>
                  <a:srgbClr val="FFFFFF"/>
                </a:solidFill>
                <a:latin typeface="Calibri"/>
              </a:defRPr>
            </a:pPr>
            <a:r>
              <a:t>🔬 Interface Publique (Biologistes)</a:t>
            </a:r>
          </a:p>
        </p:txBody>
      </p:sp>
      <p:sp>
        <p:nvSpPr>
          <p:cNvPr id="18" name="Rounded Rectangle 17"/>
          <p:cNvSpPr/>
          <p:nvPr/>
        </p:nvSpPr>
        <p:spPr>
          <a:xfrm>
            <a:off x="6858000" y="2057400"/>
            <a:ext cx="4297680" cy="365760"/>
          </a:xfrm>
          <a:prstGeom prst="roundRect">
            <a:avLst/>
          </a:prstGeom>
          <a:solidFill>
            <a:srgbClr val="001E3C"/>
          </a:solidFill>
          <a:ln w="12700">
            <a:solidFill>
              <a:srgbClr val="17A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0" y="2084832"/>
            <a:ext cx="4297680" cy="320040"/>
          </a:xfrm>
          <a:prstGeom prst="rect">
            <a:avLst/>
          </a:prstGeom>
          <a:noFill/>
        </p:spPr>
        <p:txBody>
          <a:bodyPr wrap="square">
            <a:spAutoFit/>
          </a:bodyPr>
          <a:lstStyle/>
          <a:p>
            <a:pPr algn="ctr">
              <a:defRPr sz="1200" b="0">
                <a:solidFill>
                  <a:srgbClr val="17A2B8"/>
                </a:solidFill>
                <a:latin typeface="Calibri"/>
              </a:defRPr>
            </a:pPr>
            <a:r>
              <a:t>🔗 http://127.0.0.1:8000/</a:t>
            </a:r>
          </a:p>
        </p:txBody>
      </p:sp>
      <p:sp>
        <p:nvSpPr>
          <p:cNvPr id="20" name="TextBox 19"/>
          <p:cNvSpPr txBox="1"/>
          <p:nvPr/>
        </p:nvSpPr>
        <p:spPr>
          <a:xfrm>
            <a:off x="6675120" y="2560320"/>
            <a:ext cx="4663440" cy="1097280"/>
          </a:xfrm>
          <a:prstGeom prst="rect">
            <a:avLst/>
          </a:prstGeom>
          <a:noFill/>
        </p:spPr>
        <p:txBody>
          <a:bodyPr wrap="square">
            <a:spAutoFit/>
          </a:bodyPr>
          <a:lstStyle/>
          <a:p>
            <a:pPr algn="l">
              <a:defRPr sz="1400" b="0">
                <a:solidFill>
                  <a:srgbClr val="C8DCF0"/>
                </a:solidFill>
                <a:latin typeface="Calibri"/>
              </a:defRPr>
            </a:pPr>
            <a:r>
              <a:t>Consultation et mise à jour des données. Accès simplifié pour les soigneurs.</a:t>
            </a:r>
          </a:p>
        </p:txBody>
      </p:sp>
      <p:sp>
        <p:nvSpPr>
          <p:cNvPr id="21" name="Rounded Rectangle 20"/>
          <p:cNvSpPr/>
          <p:nvPr/>
        </p:nvSpPr>
        <p:spPr>
          <a:xfrm>
            <a:off x="731520" y="4206240"/>
            <a:ext cx="10728655" cy="36576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4224528"/>
            <a:ext cx="10728655" cy="365760"/>
          </a:xfrm>
          <a:prstGeom prst="rect">
            <a:avLst/>
          </a:prstGeom>
          <a:noFill/>
        </p:spPr>
        <p:txBody>
          <a:bodyPr wrap="square">
            <a:spAutoFit/>
          </a:bodyPr>
          <a:lstStyle/>
          <a:p>
            <a:pPr algn="ctr">
              <a:defRPr sz="1600" b="1">
                <a:solidFill>
                  <a:srgbClr val="FFFFFF"/>
                </a:solidFill>
                <a:latin typeface="Calibri"/>
              </a:defRPr>
            </a:pPr>
            <a:r>
              <a:t>📸 Captures d'écran de l'application</a:t>
            </a:r>
          </a:p>
        </p:txBody>
      </p:sp>
      <p:sp>
        <p:nvSpPr>
          <p:cNvPr id="23" name="Rectangle 22"/>
          <p:cNvSpPr/>
          <p:nvPr/>
        </p:nvSpPr>
        <p:spPr>
          <a:xfrm>
            <a:off x="717081" y="4764023"/>
            <a:ext cx="3474720" cy="1463040"/>
          </a:xfrm>
          <a:prstGeom prst="rect">
            <a:avLst/>
          </a:prstGeom>
          <a:solidFill>
            <a:srgbClr val="002346"/>
          </a:solidFill>
          <a:ln w="25400">
            <a:solidFill>
              <a:srgbClr val="007BFF"/>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480560" y="4754880"/>
            <a:ext cx="3474720" cy="1463040"/>
          </a:xfrm>
          <a:prstGeom prst="rect">
            <a:avLst/>
          </a:prstGeom>
          <a:solidFill>
            <a:srgbClr val="002346"/>
          </a:solidFill>
          <a:ln w="25400">
            <a:solidFill>
              <a:srgbClr val="17A2B8"/>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80560" y="5303520"/>
            <a:ext cx="3474720" cy="365760"/>
          </a:xfrm>
          <a:prstGeom prst="rect">
            <a:avLst/>
          </a:prstGeom>
          <a:noFill/>
        </p:spPr>
        <p:txBody>
          <a:bodyPr wrap="square">
            <a:spAutoFit/>
          </a:bodyPr>
          <a:lstStyle/>
          <a:p>
            <a:pPr algn="ctr">
              <a:defRPr sz="1200" b="0">
                <a:solidFill>
                  <a:srgbClr val="96AABE"/>
                </a:solidFill>
                <a:latin typeface="Calibri"/>
              </a:defRPr>
            </a:pPr>
            <a:r>
              <a:rPr dirty="0"/>
              <a:t>📷 Interface </a:t>
            </a:r>
            <a:r>
              <a:rPr dirty="0" err="1"/>
              <a:t>Publique</a:t>
            </a:r>
            <a:r>
              <a:rPr dirty="0"/>
              <a:t> — </a:t>
            </a:r>
            <a:r>
              <a:rPr dirty="0" err="1"/>
              <a:t>Détail</a:t>
            </a:r>
            <a:r>
              <a:rPr dirty="0"/>
              <a:t> </a:t>
            </a:r>
            <a:r>
              <a:rPr dirty="0" err="1"/>
              <a:t>espèce</a:t>
            </a:r>
            <a:endParaRPr dirty="0"/>
          </a:p>
        </p:txBody>
      </p:sp>
      <p:sp>
        <p:nvSpPr>
          <p:cNvPr id="27" name="Rectangle 26"/>
          <p:cNvSpPr/>
          <p:nvPr/>
        </p:nvSpPr>
        <p:spPr>
          <a:xfrm>
            <a:off x="8229600" y="4754880"/>
            <a:ext cx="3200400" cy="1463040"/>
          </a:xfrm>
          <a:prstGeom prst="rect">
            <a:avLst/>
          </a:prstGeom>
          <a:solidFill>
            <a:srgbClr val="002346"/>
          </a:solidFill>
          <a:ln w="25400">
            <a:solidFill>
              <a:srgbClr val="28A745"/>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6400800"/>
            <a:ext cx="2286000" cy="274320"/>
          </a:xfrm>
          <a:prstGeom prst="rect">
            <a:avLst/>
          </a:prstGeom>
          <a:noFill/>
        </p:spPr>
        <p:txBody>
          <a:bodyPr wrap="square">
            <a:spAutoFit/>
          </a:bodyPr>
          <a:lstStyle/>
          <a:p>
            <a:pPr algn="l">
              <a:defRPr sz="1200" b="1">
                <a:solidFill>
                  <a:srgbClr val="FFFFFF"/>
                </a:solidFill>
                <a:latin typeface="Calibri"/>
              </a:defRPr>
            </a:pPr>
            <a:r>
              <a:t>Charte graphique Marine :</a:t>
            </a:r>
          </a:p>
        </p:txBody>
      </p:sp>
      <p:sp>
        <p:nvSpPr>
          <p:cNvPr id="30" name="Rounded Rectangle 29"/>
          <p:cNvSpPr/>
          <p:nvPr/>
        </p:nvSpPr>
        <p:spPr>
          <a:xfrm>
            <a:off x="2743200" y="6400800"/>
            <a:ext cx="1645920" cy="274320"/>
          </a:xfrm>
          <a:prstGeom prst="roundRect">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0" y="6419088"/>
            <a:ext cx="1645920" cy="274320"/>
          </a:xfrm>
          <a:prstGeom prst="rect">
            <a:avLst/>
          </a:prstGeom>
          <a:noFill/>
        </p:spPr>
        <p:txBody>
          <a:bodyPr wrap="square">
            <a:spAutoFit/>
          </a:bodyPr>
          <a:lstStyle/>
          <a:p>
            <a:pPr algn="ctr">
              <a:defRPr sz="1100" b="1">
                <a:solidFill>
                  <a:srgbClr val="FFFFFF"/>
                </a:solidFill>
                <a:latin typeface="Calibri"/>
              </a:defRPr>
            </a:pPr>
            <a:r>
              <a:t>Eau Douce</a:t>
            </a:r>
          </a:p>
        </p:txBody>
      </p:sp>
      <p:sp>
        <p:nvSpPr>
          <p:cNvPr id="32" name="Rounded Rectangle 31"/>
          <p:cNvSpPr/>
          <p:nvPr/>
        </p:nvSpPr>
        <p:spPr>
          <a:xfrm>
            <a:off x="4754880" y="6400800"/>
            <a:ext cx="1645920" cy="274320"/>
          </a:xfrm>
          <a:prstGeom prst="round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754880" y="6419088"/>
            <a:ext cx="1645920" cy="274320"/>
          </a:xfrm>
          <a:prstGeom prst="rect">
            <a:avLst/>
          </a:prstGeom>
          <a:noFill/>
        </p:spPr>
        <p:txBody>
          <a:bodyPr wrap="square">
            <a:spAutoFit/>
          </a:bodyPr>
          <a:lstStyle/>
          <a:p>
            <a:pPr algn="ctr">
              <a:defRPr sz="1100" b="1">
                <a:solidFill>
                  <a:srgbClr val="FFFFFF"/>
                </a:solidFill>
                <a:latin typeface="Calibri"/>
              </a:defRPr>
            </a:pPr>
            <a:r>
              <a:t>Eau Salée</a:t>
            </a:r>
          </a:p>
        </p:txBody>
      </p:sp>
      <p:sp>
        <p:nvSpPr>
          <p:cNvPr id="34" name="Rounded Rectangle 33"/>
          <p:cNvSpPr/>
          <p:nvPr/>
        </p:nvSpPr>
        <p:spPr>
          <a:xfrm>
            <a:off x="6766560" y="6400800"/>
            <a:ext cx="1645920" cy="2743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66560" y="6419088"/>
            <a:ext cx="1645920" cy="274320"/>
          </a:xfrm>
          <a:prstGeom prst="rect">
            <a:avLst/>
          </a:prstGeom>
          <a:noFill/>
        </p:spPr>
        <p:txBody>
          <a:bodyPr wrap="square">
            <a:spAutoFit/>
          </a:bodyPr>
          <a:lstStyle/>
          <a:p>
            <a:pPr algn="ctr">
              <a:defRPr sz="1100" b="1">
                <a:solidFill>
                  <a:srgbClr val="FFFFFF"/>
                </a:solidFill>
                <a:latin typeface="Calibri"/>
              </a:defRPr>
            </a:pPr>
            <a:r>
              <a:t>Eau Saumâtre</a:t>
            </a:r>
          </a:p>
        </p:txBody>
      </p:sp>
      <p:pic>
        <p:nvPicPr>
          <p:cNvPr id="39" name="Image 38">
            <a:extLst>
              <a:ext uri="{FF2B5EF4-FFF2-40B4-BE49-F238E27FC236}">
                <a16:creationId xmlns:a16="http://schemas.microsoft.com/office/drawing/2014/main" id="{45DC2771-708E-4CA5-6357-7E4E73C46D56}"/>
              </a:ext>
            </a:extLst>
          </p:cNvPr>
          <p:cNvPicPr>
            <a:picLocks noChangeAspect="1"/>
          </p:cNvPicPr>
          <p:nvPr/>
        </p:nvPicPr>
        <p:blipFill>
          <a:blip r:embed="rId2"/>
          <a:stretch>
            <a:fillRect/>
          </a:stretch>
        </p:blipFill>
        <p:spPr>
          <a:xfrm>
            <a:off x="731519" y="4764023"/>
            <a:ext cx="3460282" cy="1463041"/>
          </a:xfrm>
          <a:prstGeom prst="rect">
            <a:avLst/>
          </a:prstGeom>
        </p:spPr>
      </p:pic>
      <p:pic>
        <p:nvPicPr>
          <p:cNvPr id="41" name="Image 40">
            <a:extLst>
              <a:ext uri="{FF2B5EF4-FFF2-40B4-BE49-F238E27FC236}">
                <a16:creationId xmlns:a16="http://schemas.microsoft.com/office/drawing/2014/main" id="{2DC06DE7-69E1-09CD-5E4E-2CEEBFDB626A}"/>
              </a:ext>
            </a:extLst>
          </p:cNvPr>
          <p:cNvPicPr>
            <a:picLocks noChangeAspect="1"/>
          </p:cNvPicPr>
          <p:nvPr/>
        </p:nvPicPr>
        <p:blipFill>
          <a:blip r:embed="rId3"/>
          <a:stretch>
            <a:fillRect/>
          </a:stretch>
        </p:blipFill>
        <p:spPr>
          <a:xfrm>
            <a:off x="4480559" y="4723825"/>
            <a:ext cx="3474721" cy="1603823"/>
          </a:xfrm>
          <a:prstGeom prst="rect">
            <a:avLst/>
          </a:prstGeom>
        </p:spPr>
      </p:pic>
      <p:pic>
        <p:nvPicPr>
          <p:cNvPr id="43" name="Image 42">
            <a:extLst>
              <a:ext uri="{FF2B5EF4-FFF2-40B4-BE49-F238E27FC236}">
                <a16:creationId xmlns:a16="http://schemas.microsoft.com/office/drawing/2014/main" id="{5FA66B37-EF5C-1EE9-8200-A953D8AB552D}"/>
              </a:ext>
            </a:extLst>
          </p:cNvPr>
          <p:cNvPicPr>
            <a:picLocks noChangeAspect="1"/>
          </p:cNvPicPr>
          <p:nvPr/>
        </p:nvPicPr>
        <p:blipFill>
          <a:blip r:embed="rId4"/>
          <a:stretch>
            <a:fillRect/>
          </a:stretch>
        </p:blipFill>
        <p:spPr>
          <a:xfrm>
            <a:off x="8092440" y="4789115"/>
            <a:ext cx="3474720" cy="14118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87552"/>
            <a:ext cx="12191695" cy="45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
            <a:ext cx="11277295" cy="640080"/>
          </a:xfrm>
          <a:prstGeom prst="rect">
            <a:avLst/>
          </a:prstGeom>
          <a:noFill/>
        </p:spPr>
        <p:txBody>
          <a:bodyPr wrap="square">
            <a:spAutoFit/>
          </a:bodyPr>
          <a:lstStyle/>
          <a:p>
            <a:pPr algn="l">
              <a:defRPr sz="3200" b="1">
                <a:solidFill>
                  <a:srgbClr val="FFFFFF"/>
                </a:solidFill>
                <a:latin typeface="Calibri"/>
              </a:defRPr>
            </a:pPr>
            <a:r>
              <a:t>Bilan des livrables</a:t>
            </a:r>
          </a:p>
        </p:txBody>
      </p:sp>
      <p:sp>
        <p:nvSpPr>
          <p:cNvPr id="5" name="Oval 4"/>
          <p:cNvSpPr/>
          <p:nvPr/>
        </p:nvSpPr>
        <p:spPr>
          <a:xfrm>
            <a:off x="10820095" y="731520"/>
            <a:ext cx="320040" cy="32004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05695" y="1645920"/>
            <a:ext cx="201168" cy="201168"/>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5212080"/>
            <a:ext cx="256032" cy="25603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28800" y="5943600"/>
            <a:ext cx="164592" cy="16459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371600" y="1645920"/>
            <a:ext cx="9448495" cy="54864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1737360"/>
            <a:ext cx="5486400" cy="457200"/>
          </a:xfrm>
          <a:prstGeom prst="rect">
            <a:avLst/>
          </a:prstGeom>
          <a:noFill/>
        </p:spPr>
        <p:txBody>
          <a:bodyPr wrap="square">
            <a:spAutoFit/>
          </a:bodyPr>
          <a:lstStyle/>
          <a:p>
            <a:pPr algn="ctr">
              <a:defRPr sz="1800" b="1">
                <a:solidFill>
                  <a:srgbClr val="FFFFFF"/>
                </a:solidFill>
                <a:latin typeface="Calibri"/>
              </a:defRPr>
            </a:pPr>
            <a:r>
              <a:t>Objectif</a:t>
            </a:r>
          </a:p>
        </p:txBody>
      </p:sp>
      <p:sp>
        <p:nvSpPr>
          <p:cNvPr id="11" name="TextBox 10"/>
          <p:cNvSpPr txBox="1"/>
          <p:nvPr/>
        </p:nvSpPr>
        <p:spPr>
          <a:xfrm>
            <a:off x="6858000" y="1737360"/>
            <a:ext cx="3474720" cy="457200"/>
          </a:xfrm>
          <a:prstGeom prst="rect">
            <a:avLst/>
          </a:prstGeom>
          <a:noFill/>
        </p:spPr>
        <p:txBody>
          <a:bodyPr wrap="square">
            <a:spAutoFit/>
          </a:bodyPr>
          <a:lstStyle/>
          <a:p>
            <a:pPr algn="ctr">
              <a:defRPr sz="1800" b="1">
                <a:solidFill>
                  <a:srgbClr val="FFFFFF"/>
                </a:solidFill>
                <a:latin typeface="Calibri"/>
              </a:defRPr>
            </a:pPr>
            <a:r>
              <a:t>Statut</a:t>
            </a:r>
          </a:p>
        </p:txBody>
      </p:sp>
      <p:sp>
        <p:nvSpPr>
          <p:cNvPr id="12" name="Rectangle 11"/>
          <p:cNvSpPr/>
          <p:nvPr/>
        </p:nvSpPr>
        <p:spPr>
          <a:xfrm>
            <a:off x="1371600" y="2194560"/>
            <a:ext cx="9448495" cy="731520"/>
          </a:xfrm>
          <a:prstGeom prst="rect">
            <a:avLst/>
          </a:prstGeom>
          <a:solidFill>
            <a:srgbClr val="002D5A"/>
          </a:solidFill>
          <a:ln w="12700">
            <a:solidFill>
              <a:srgbClr val="005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554480" y="2331720"/>
            <a:ext cx="5120640" cy="457200"/>
          </a:xfrm>
          <a:prstGeom prst="rect">
            <a:avLst/>
          </a:prstGeom>
          <a:noFill/>
        </p:spPr>
        <p:txBody>
          <a:bodyPr wrap="square">
            <a:spAutoFit/>
          </a:bodyPr>
          <a:lstStyle/>
          <a:p>
            <a:pPr algn="l">
              <a:defRPr sz="1800" b="0">
                <a:solidFill>
                  <a:srgbClr val="FFFFFF"/>
                </a:solidFill>
                <a:latin typeface="Calibri"/>
              </a:defRPr>
            </a:pPr>
            <a:r>
              <a:t>Inventaire des espèces</a:t>
            </a:r>
          </a:p>
        </p:txBody>
      </p:sp>
      <p:sp>
        <p:nvSpPr>
          <p:cNvPr id="14" name="Rounded Rectangle 13"/>
          <p:cNvSpPr/>
          <p:nvPr/>
        </p:nvSpPr>
        <p:spPr>
          <a:xfrm>
            <a:off x="7315200" y="2331720"/>
            <a:ext cx="256032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0" y="2359152"/>
            <a:ext cx="2560320" cy="411480"/>
          </a:xfrm>
          <a:prstGeom prst="rect">
            <a:avLst/>
          </a:prstGeom>
          <a:noFill/>
        </p:spPr>
        <p:txBody>
          <a:bodyPr wrap="square">
            <a:spAutoFit/>
          </a:bodyPr>
          <a:lstStyle/>
          <a:p>
            <a:pPr algn="ctr">
              <a:defRPr sz="1600" b="1">
                <a:solidFill>
                  <a:srgbClr val="FFFFFF"/>
                </a:solidFill>
                <a:latin typeface="Calibri"/>
              </a:defRPr>
            </a:pPr>
            <a:r>
              <a:t>✅ Réalisé</a:t>
            </a:r>
          </a:p>
        </p:txBody>
      </p:sp>
      <p:sp>
        <p:nvSpPr>
          <p:cNvPr id="16" name="Rectangle 15"/>
          <p:cNvSpPr/>
          <p:nvPr/>
        </p:nvSpPr>
        <p:spPr>
          <a:xfrm>
            <a:off x="1371600" y="2926080"/>
            <a:ext cx="9448495" cy="731520"/>
          </a:xfrm>
          <a:prstGeom prst="rect">
            <a:avLst/>
          </a:prstGeom>
          <a:solidFill>
            <a:srgbClr val="00376E"/>
          </a:solidFill>
          <a:ln w="12700">
            <a:solidFill>
              <a:srgbClr val="005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54480" y="3063240"/>
            <a:ext cx="5120640" cy="457200"/>
          </a:xfrm>
          <a:prstGeom prst="rect">
            <a:avLst/>
          </a:prstGeom>
          <a:noFill/>
        </p:spPr>
        <p:txBody>
          <a:bodyPr wrap="square">
            <a:spAutoFit/>
          </a:bodyPr>
          <a:lstStyle/>
          <a:p>
            <a:pPr algn="l">
              <a:defRPr sz="1800" b="0">
                <a:solidFill>
                  <a:srgbClr val="FFFFFF"/>
                </a:solidFill>
                <a:latin typeface="Calibri"/>
              </a:defRPr>
            </a:pPr>
            <a:r>
              <a:t>Gestion des bassins</a:t>
            </a:r>
          </a:p>
        </p:txBody>
      </p:sp>
      <p:sp>
        <p:nvSpPr>
          <p:cNvPr id="18" name="Rounded Rectangle 17"/>
          <p:cNvSpPr/>
          <p:nvPr/>
        </p:nvSpPr>
        <p:spPr>
          <a:xfrm>
            <a:off x="7315200" y="3063240"/>
            <a:ext cx="256032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0" y="3090672"/>
            <a:ext cx="2560320" cy="411480"/>
          </a:xfrm>
          <a:prstGeom prst="rect">
            <a:avLst/>
          </a:prstGeom>
          <a:noFill/>
        </p:spPr>
        <p:txBody>
          <a:bodyPr wrap="square">
            <a:spAutoFit/>
          </a:bodyPr>
          <a:lstStyle/>
          <a:p>
            <a:pPr algn="ctr">
              <a:defRPr sz="1600" b="1">
                <a:solidFill>
                  <a:srgbClr val="FFFFFF"/>
                </a:solidFill>
                <a:latin typeface="Calibri"/>
              </a:defRPr>
            </a:pPr>
            <a:r>
              <a:t>✅ Réalisé</a:t>
            </a:r>
          </a:p>
        </p:txBody>
      </p:sp>
      <p:sp>
        <p:nvSpPr>
          <p:cNvPr id="20" name="Rectangle 19"/>
          <p:cNvSpPr/>
          <p:nvPr/>
        </p:nvSpPr>
        <p:spPr>
          <a:xfrm>
            <a:off x="1371600" y="3657600"/>
            <a:ext cx="9448495" cy="731520"/>
          </a:xfrm>
          <a:prstGeom prst="rect">
            <a:avLst/>
          </a:prstGeom>
          <a:solidFill>
            <a:srgbClr val="002D5A"/>
          </a:solidFill>
          <a:ln w="12700">
            <a:solidFill>
              <a:srgbClr val="005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554480" y="3794760"/>
            <a:ext cx="5120640" cy="457200"/>
          </a:xfrm>
          <a:prstGeom prst="rect">
            <a:avLst/>
          </a:prstGeom>
          <a:noFill/>
        </p:spPr>
        <p:txBody>
          <a:bodyPr wrap="square">
            <a:spAutoFit/>
          </a:bodyPr>
          <a:lstStyle/>
          <a:p>
            <a:pPr algn="l">
              <a:defRPr sz="1800" b="0">
                <a:solidFill>
                  <a:srgbClr val="FFFFFF"/>
                </a:solidFill>
                <a:latin typeface="Calibri"/>
              </a:defRPr>
            </a:pPr>
            <a:r>
              <a:t>Surveillance des paramètres</a:t>
            </a:r>
          </a:p>
        </p:txBody>
      </p:sp>
      <p:sp>
        <p:nvSpPr>
          <p:cNvPr id="22" name="Rounded Rectangle 21"/>
          <p:cNvSpPr/>
          <p:nvPr/>
        </p:nvSpPr>
        <p:spPr>
          <a:xfrm>
            <a:off x="7315200" y="3794760"/>
            <a:ext cx="256032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0" y="3822192"/>
            <a:ext cx="2560320" cy="411480"/>
          </a:xfrm>
          <a:prstGeom prst="rect">
            <a:avLst/>
          </a:prstGeom>
          <a:noFill/>
        </p:spPr>
        <p:txBody>
          <a:bodyPr wrap="square">
            <a:spAutoFit/>
          </a:bodyPr>
          <a:lstStyle/>
          <a:p>
            <a:pPr algn="ctr">
              <a:defRPr sz="1600" b="1">
                <a:solidFill>
                  <a:srgbClr val="FFFFFF"/>
                </a:solidFill>
                <a:latin typeface="Calibri"/>
              </a:defRPr>
            </a:pPr>
            <a:r>
              <a:t>✅ Réalisé</a:t>
            </a:r>
          </a:p>
        </p:txBody>
      </p:sp>
      <p:sp>
        <p:nvSpPr>
          <p:cNvPr id="24" name="Rectangle 23"/>
          <p:cNvSpPr/>
          <p:nvPr/>
        </p:nvSpPr>
        <p:spPr>
          <a:xfrm>
            <a:off x="1371600" y="4389120"/>
            <a:ext cx="9448495" cy="731520"/>
          </a:xfrm>
          <a:prstGeom prst="rect">
            <a:avLst/>
          </a:prstGeom>
          <a:solidFill>
            <a:srgbClr val="00376E"/>
          </a:solidFill>
          <a:ln w="12700">
            <a:solidFill>
              <a:srgbClr val="005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554480" y="4526280"/>
            <a:ext cx="5120640" cy="457200"/>
          </a:xfrm>
          <a:prstGeom prst="rect">
            <a:avLst/>
          </a:prstGeom>
          <a:noFill/>
        </p:spPr>
        <p:txBody>
          <a:bodyPr wrap="square">
            <a:spAutoFit/>
          </a:bodyPr>
          <a:lstStyle/>
          <a:p>
            <a:pPr algn="l">
              <a:defRPr sz="1800" b="0">
                <a:solidFill>
                  <a:srgbClr val="FFFFFF"/>
                </a:solidFill>
                <a:latin typeface="Calibri"/>
              </a:defRPr>
            </a:pPr>
            <a:r>
              <a:t>Recherche et filtrage</a:t>
            </a:r>
          </a:p>
        </p:txBody>
      </p:sp>
      <p:sp>
        <p:nvSpPr>
          <p:cNvPr id="26" name="Rounded Rectangle 25"/>
          <p:cNvSpPr/>
          <p:nvPr/>
        </p:nvSpPr>
        <p:spPr>
          <a:xfrm>
            <a:off x="7315200" y="4526280"/>
            <a:ext cx="256032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0" y="4553712"/>
            <a:ext cx="2560320" cy="411480"/>
          </a:xfrm>
          <a:prstGeom prst="rect">
            <a:avLst/>
          </a:prstGeom>
          <a:noFill/>
        </p:spPr>
        <p:txBody>
          <a:bodyPr wrap="square">
            <a:spAutoFit/>
          </a:bodyPr>
          <a:lstStyle/>
          <a:p>
            <a:pPr algn="ctr">
              <a:defRPr sz="1600" b="1">
                <a:solidFill>
                  <a:srgbClr val="FFFFFF"/>
                </a:solidFill>
                <a:latin typeface="Calibri"/>
              </a:defRPr>
            </a:pPr>
            <a:r>
              <a:t>✅ Réalisé</a:t>
            </a:r>
          </a:p>
        </p:txBody>
      </p:sp>
      <p:sp>
        <p:nvSpPr>
          <p:cNvPr id="28" name="Rectangle 27"/>
          <p:cNvSpPr/>
          <p:nvPr/>
        </p:nvSpPr>
        <p:spPr>
          <a:xfrm>
            <a:off x="1371600" y="5120640"/>
            <a:ext cx="9448495" cy="731520"/>
          </a:xfrm>
          <a:prstGeom prst="rect">
            <a:avLst/>
          </a:prstGeom>
          <a:solidFill>
            <a:srgbClr val="002D5A"/>
          </a:solidFill>
          <a:ln w="12700">
            <a:solidFill>
              <a:srgbClr val="005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554480" y="5314910"/>
            <a:ext cx="5120640" cy="457200"/>
          </a:xfrm>
          <a:prstGeom prst="rect">
            <a:avLst/>
          </a:prstGeom>
          <a:noFill/>
        </p:spPr>
        <p:txBody>
          <a:bodyPr wrap="square">
            <a:spAutoFit/>
          </a:bodyPr>
          <a:lstStyle/>
          <a:p>
            <a:pPr algn="l">
              <a:defRPr sz="1800" b="0">
                <a:solidFill>
                  <a:srgbClr val="FFFFFF"/>
                </a:solidFill>
                <a:latin typeface="Calibri"/>
              </a:defRPr>
            </a:pPr>
            <a:r>
              <a:t>Charte graphique Marine</a:t>
            </a:r>
          </a:p>
        </p:txBody>
      </p:sp>
      <p:sp>
        <p:nvSpPr>
          <p:cNvPr id="30" name="Rounded Rectangle 29"/>
          <p:cNvSpPr/>
          <p:nvPr/>
        </p:nvSpPr>
        <p:spPr>
          <a:xfrm>
            <a:off x="7315200" y="5257800"/>
            <a:ext cx="256032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0" y="5285232"/>
            <a:ext cx="2560320" cy="411480"/>
          </a:xfrm>
          <a:prstGeom prst="rect">
            <a:avLst/>
          </a:prstGeom>
          <a:noFill/>
        </p:spPr>
        <p:txBody>
          <a:bodyPr wrap="square">
            <a:spAutoFit/>
          </a:bodyPr>
          <a:lstStyle/>
          <a:p>
            <a:pPr algn="ctr">
              <a:defRPr sz="1600" b="1">
                <a:solidFill>
                  <a:srgbClr val="FFFFFF"/>
                </a:solidFill>
                <a:latin typeface="Calibri"/>
              </a:defRPr>
            </a:pPr>
            <a:r>
              <a:t>✅ Réalisé</a:t>
            </a:r>
          </a:p>
        </p:txBody>
      </p:sp>
      <p:sp>
        <p:nvSpPr>
          <p:cNvPr id="32" name="Rounded Rectangle 31"/>
          <p:cNvSpPr/>
          <p:nvPr/>
        </p:nvSpPr>
        <p:spPr>
          <a:xfrm>
            <a:off x="1307432" y="6007608"/>
            <a:ext cx="9448495" cy="548640"/>
          </a:xfrm>
          <a:prstGeom prst="roundRect">
            <a:avLst/>
          </a:prstGeom>
          <a:solidFill>
            <a:srgbClr val="003C1E"/>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35242" y="6074022"/>
            <a:ext cx="9448495" cy="457200"/>
          </a:xfrm>
          <a:prstGeom prst="rect">
            <a:avLst/>
          </a:prstGeom>
          <a:noFill/>
        </p:spPr>
        <p:txBody>
          <a:bodyPr wrap="square">
            <a:spAutoFit/>
          </a:bodyPr>
          <a:lstStyle/>
          <a:p>
            <a:pPr algn="ctr">
              <a:defRPr sz="1800" b="1">
                <a:solidFill>
                  <a:srgbClr val="FFFFFF"/>
                </a:solidFill>
                <a:latin typeface="Calibri"/>
              </a:defRPr>
            </a:pPr>
            <a:r>
              <a:rPr dirty="0"/>
              <a:t>🎯 100% des </a:t>
            </a:r>
            <a:r>
              <a:rPr dirty="0" err="1"/>
              <a:t>objectifs</a:t>
            </a:r>
            <a:r>
              <a:rPr dirty="0"/>
              <a:t> </a:t>
            </a:r>
            <a:r>
              <a:rPr dirty="0" err="1"/>
              <a:t>atteints</a:t>
            </a:r>
            <a:r>
              <a:rPr dirty="0"/>
              <a:t> — </a:t>
            </a:r>
            <a:r>
              <a:rPr dirty="0" err="1"/>
              <a:t>Projet</a:t>
            </a:r>
            <a:r>
              <a:rPr dirty="0"/>
              <a:t> </a:t>
            </a:r>
            <a:r>
              <a:rPr dirty="0" err="1"/>
              <a:t>livré</a:t>
            </a:r>
            <a:r>
              <a:rPr dirty="0"/>
              <a:t> dans les </a:t>
            </a:r>
            <a:r>
              <a:rPr dirty="0" err="1"/>
              <a:t>délais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87552"/>
            <a:ext cx="12191695" cy="45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28600"/>
            <a:ext cx="11277295" cy="640080"/>
          </a:xfrm>
          <a:prstGeom prst="rect">
            <a:avLst/>
          </a:prstGeom>
          <a:noFill/>
        </p:spPr>
        <p:txBody>
          <a:bodyPr wrap="square">
            <a:spAutoFit/>
          </a:bodyPr>
          <a:lstStyle/>
          <a:p>
            <a:pPr algn="l">
              <a:defRPr sz="3200" b="1">
                <a:solidFill>
                  <a:srgbClr val="FFFFFF"/>
                </a:solidFill>
                <a:latin typeface="Calibri"/>
              </a:defRPr>
            </a:pPr>
            <a:r>
              <a:t>Conclusion &amp; Perspectives</a:t>
            </a:r>
          </a:p>
        </p:txBody>
      </p:sp>
      <p:sp>
        <p:nvSpPr>
          <p:cNvPr id="5" name="Oval 4"/>
          <p:cNvSpPr/>
          <p:nvPr/>
        </p:nvSpPr>
        <p:spPr>
          <a:xfrm>
            <a:off x="10820095" y="731520"/>
            <a:ext cx="320040" cy="32004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05695" y="1645920"/>
            <a:ext cx="201168" cy="201168"/>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5212080"/>
            <a:ext cx="256032" cy="25603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828800" y="5943600"/>
            <a:ext cx="164592" cy="164592"/>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57200" y="1371600"/>
            <a:ext cx="182880" cy="18288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277295" y="5029200"/>
            <a:ext cx="228600" cy="22860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1371600"/>
            <a:ext cx="10728655" cy="2011680"/>
          </a:xfrm>
          <a:prstGeom prst="roundRect">
            <a:avLst/>
          </a:prstGeom>
          <a:solidFill>
            <a:srgbClr val="003264"/>
          </a:solidFill>
          <a:ln w="38100">
            <a:solidFill>
              <a:srgbClr val="007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1371600"/>
            <a:ext cx="2286000" cy="41148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1389888"/>
            <a:ext cx="2286000" cy="365760"/>
          </a:xfrm>
          <a:prstGeom prst="rect">
            <a:avLst/>
          </a:prstGeom>
          <a:noFill/>
        </p:spPr>
        <p:txBody>
          <a:bodyPr wrap="square">
            <a:spAutoFit/>
          </a:bodyPr>
          <a:lstStyle/>
          <a:p>
            <a:pPr algn="ctr">
              <a:defRPr sz="1600" b="1">
                <a:solidFill>
                  <a:srgbClr val="FFFFFF"/>
                </a:solidFill>
                <a:latin typeface="Calibri"/>
              </a:defRPr>
            </a:pPr>
            <a:r>
              <a:t>✅ Conclusion</a:t>
            </a:r>
          </a:p>
        </p:txBody>
      </p:sp>
      <p:sp>
        <p:nvSpPr>
          <p:cNvPr id="14" name="TextBox 13"/>
          <p:cNvSpPr txBox="1"/>
          <p:nvPr/>
        </p:nvSpPr>
        <p:spPr>
          <a:xfrm>
            <a:off x="914400" y="1874519"/>
            <a:ext cx="10362895" cy="1371600"/>
          </a:xfrm>
          <a:prstGeom prst="rect">
            <a:avLst/>
          </a:prstGeom>
          <a:noFill/>
        </p:spPr>
        <p:txBody>
          <a:bodyPr wrap="square">
            <a:spAutoFit/>
          </a:bodyPr>
          <a:lstStyle/>
          <a:p>
            <a:pPr algn="l">
              <a:defRPr sz="1600" b="0">
                <a:solidFill>
                  <a:srgbClr val="FFFFFF"/>
                </a:solidFill>
                <a:latin typeface="Calibri"/>
              </a:defRPr>
            </a:pPr>
            <a:r>
              <a:t>Application Django fonctionnelle répondant au cahier des charges. Séparation des rôles Conservateur/Biologiste, interface Bootstrap respectant la charte Marine, code versionné sur GitHub. Le système permet une gestion centralisée et efficace de l'aquarium public.</a:t>
            </a:r>
          </a:p>
        </p:txBody>
      </p:sp>
      <p:sp>
        <p:nvSpPr>
          <p:cNvPr id="15" name="Rounded Rectangle 14"/>
          <p:cNvSpPr/>
          <p:nvPr/>
        </p:nvSpPr>
        <p:spPr>
          <a:xfrm>
            <a:off x="731520" y="3657600"/>
            <a:ext cx="10728655" cy="1645920"/>
          </a:xfrm>
          <a:prstGeom prst="roundRect">
            <a:avLst/>
          </a:prstGeom>
          <a:solidFill>
            <a:srgbClr val="003264"/>
          </a:solidFill>
          <a:ln w="381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3657600"/>
            <a:ext cx="2560320" cy="4114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675887"/>
            <a:ext cx="2560320" cy="365760"/>
          </a:xfrm>
          <a:prstGeom prst="rect">
            <a:avLst/>
          </a:prstGeom>
          <a:noFill/>
        </p:spPr>
        <p:txBody>
          <a:bodyPr wrap="square">
            <a:spAutoFit/>
          </a:bodyPr>
          <a:lstStyle/>
          <a:p>
            <a:pPr algn="ctr">
              <a:defRPr sz="1600" b="1">
                <a:solidFill>
                  <a:srgbClr val="FFFFFF"/>
                </a:solidFill>
                <a:latin typeface="Calibri"/>
              </a:defRPr>
            </a:pPr>
            <a:r>
              <a:t>🚀 Perspectives futures</a:t>
            </a:r>
          </a:p>
        </p:txBody>
      </p:sp>
      <p:sp>
        <p:nvSpPr>
          <p:cNvPr id="18" name="TextBox 17"/>
          <p:cNvSpPr txBox="1"/>
          <p:nvPr/>
        </p:nvSpPr>
        <p:spPr>
          <a:xfrm>
            <a:off x="914400" y="4160520"/>
            <a:ext cx="10362895" cy="365760"/>
          </a:xfrm>
          <a:prstGeom prst="rect">
            <a:avLst/>
          </a:prstGeom>
          <a:noFill/>
        </p:spPr>
        <p:txBody>
          <a:bodyPr wrap="square">
            <a:spAutoFit/>
          </a:bodyPr>
          <a:lstStyle/>
          <a:p>
            <a:pPr algn="l">
              <a:defRPr sz="1400" b="0">
                <a:solidFill>
                  <a:srgbClr val="C8DCF0"/>
                </a:solidFill>
                <a:latin typeface="Calibri"/>
              </a:defRPr>
            </a:pPr>
            <a:r>
              <a:t>📦 Module alimentation — Planification et suivi des repas des espèces</a:t>
            </a:r>
          </a:p>
        </p:txBody>
      </p:sp>
      <p:sp>
        <p:nvSpPr>
          <p:cNvPr id="19" name="TextBox 18"/>
          <p:cNvSpPr txBox="1"/>
          <p:nvPr/>
        </p:nvSpPr>
        <p:spPr>
          <a:xfrm>
            <a:off x="914400" y="4526280"/>
            <a:ext cx="10362895" cy="365760"/>
          </a:xfrm>
          <a:prstGeom prst="rect">
            <a:avLst/>
          </a:prstGeom>
          <a:noFill/>
        </p:spPr>
        <p:txBody>
          <a:bodyPr wrap="square">
            <a:spAutoFit/>
          </a:bodyPr>
          <a:lstStyle/>
          <a:p>
            <a:pPr algn="l">
              <a:defRPr sz="1400" b="0">
                <a:solidFill>
                  <a:srgbClr val="C8DCF0"/>
                </a:solidFill>
                <a:latin typeface="Calibri"/>
              </a:defRPr>
            </a:pPr>
            <a:r>
              <a:t>🔔 Notifications automatiques — Alertes pH/température en temps réel</a:t>
            </a:r>
          </a:p>
        </p:txBody>
      </p:sp>
      <p:sp>
        <p:nvSpPr>
          <p:cNvPr id="20" name="TextBox 19"/>
          <p:cNvSpPr txBox="1"/>
          <p:nvPr/>
        </p:nvSpPr>
        <p:spPr>
          <a:xfrm>
            <a:off x="914400" y="4892040"/>
            <a:ext cx="10362895" cy="365760"/>
          </a:xfrm>
          <a:prstGeom prst="rect">
            <a:avLst/>
          </a:prstGeom>
          <a:noFill/>
        </p:spPr>
        <p:txBody>
          <a:bodyPr wrap="square">
            <a:spAutoFit/>
          </a:bodyPr>
          <a:lstStyle/>
          <a:p>
            <a:pPr algn="l">
              <a:defRPr sz="1400" b="0">
                <a:solidFill>
                  <a:srgbClr val="C8DCF0"/>
                </a:solidFill>
                <a:latin typeface="Calibri"/>
              </a:defRPr>
            </a:pPr>
            <a:r>
              <a:t>📱 Application mobile — Accès nomade pour les soigneurs sur le terrain</a:t>
            </a:r>
          </a:p>
        </p:txBody>
      </p:sp>
      <p:sp>
        <p:nvSpPr>
          <p:cNvPr id="21" name="Rounded Rectangle 20"/>
          <p:cNvSpPr/>
          <p:nvPr/>
        </p:nvSpPr>
        <p:spPr>
          <a:xfrm>
            <a:off x="731520" y="5577840"/>
            <a:ext cx="10728655" cy="731520"/>
          </a:xfrm>
          <a:prstGeom prst="roundRect">
            <a:avLst/>
          </a:prstGeom>
          <a:solidFill>
            <a:srgbClr val="002850"/>
          </a:solidFill>
          <a:ln w="12700">
            <a:solidFill>
              <a:srgbClr val="17A2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5623560"/>
            <a:ext cx="10728655" cy="320040"/>
          </a:xfrm>
          <a:prstGeom prst="rect">
            <a:avLst/>
          </a:prstGeom>
          <a:noFill/>
        </p:spPr>
        <p:txBody>
          <a:bodyPr wrap="square">
            <a:spAutoFit/>
          </a:bodyPr>
          <a:lstStyle/>
          <a:p>
            <a:pPr algn="ctr">
              <a:defRPr sz="1400" b="1">
                <a:solidFill>
                  <a:srgbClr val="17A2B8"/>
                </a:solidFill>
                <a:latin typeface="Calibri"/>
              </a:defRPr>
            </a:pPr>
            <a:r>
              <a:t>🙏 Remerciements</a:t>
            </a:r>
          </a:p>
        </p:txBody>
      </p:sp>
      <p:sp>
        <p:nvSpPr>
          <p:cNvPr id="23" name="TextBox 22"/>
          <p:cNvSpPr txBox="1"/>
          <p:nvPr/>
        </p:nvSpPr>
        <p:spPr>
          <a:xfrm>
            <a:off x="731520" y="5897880"/>
            <a:ext cx="10728655" cy="320040"/>
          </a:xfrm>
          <a:prstGeom prst="rect">
            <a:avLst/>
          </a:prstGeom>
          <a:noFill/>
        </p:spPr>
        <p:txBody>
          <a:bodyPr wrap="square">
            <a:spAutoFit/>
          </a:bodyPr>
          <a:lstStyle/>
          <a:p>
            <a:pPr algn="ctr">
              <a:defRPr sz="1200" b="0">
                <a:solidFill>
                  <a:srgbClr val="B4C8DC"/>
                </a:solidFill>
                <a:latin typeface="Calibri"/>
              </a:defRPr>
            </a:pPr>
            <a:r>
              <a:t>M. Mohamed GHAZOUANI — Encadrant  |  Équipe EMSI — École Marocaine des Sciences de l'Ingénieur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835</Words>
  <Application>Microsoft Office PowerPoint</Application>
  <PresentationFormat>Grand écran</PresentationFormat>
  <Paragraphs>146</Paragraphs>
  <Slides>12</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12</vt:i4>
      </vt:variant>
    </vt:vector>
  </HeadingPairs>
  <TitlesOfParts>
    <vt:vector size="1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benlaama reda</cp:lastModifiedBy>
  <cp:revision>1</cp:revision>
  <dcterms:created xsi:type="dcterms:W3CDTF">2013-01-27T09:14:16Z</dcterms:created>
  <dcterms:modified xsi:type="dcterms:W3CDTF">2026-05-06T17:22:23Z</dcterms:modified>
  <cp:category/>
</cp:coreProperties>
</file>